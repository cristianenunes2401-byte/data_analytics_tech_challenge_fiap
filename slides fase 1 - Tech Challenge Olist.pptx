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  <p:sldId id="261" r:id="rId7"/>
    <p:sldId id="263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2944"/>
    <a:srgbClr val="DF186A"/>
    <a:srgbClr val="310E31"/>
    <a:srgbClr val="19558C"/>
    <a:srgbClr val="5B092A"/>
    <a:srgbClr val="8F0F43"/>
    <a:srgbClr val="050203"/>
    <a:srgbClr val="030000"/>
    <a:srgbClr val="450C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Pasta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Pasta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Pasta1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Pasta1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Planilha2!$F$19</c:f>
              <c:strCache>
                <c:ptCount val="1"/>
                <c:pt idx="0">
                  <c:v>Receita Total (R$MM)</c:v>
                </c:pt>
              </c:strCache>
            </c:strRef>
          </c:tx>
          <c:spPr>
            <a:solidFill>
              <a:srgbClr val="0C2944"/>
            </a:solidFill>
            <a:ln>
              <a:noFill/>
            </a:ln>
            <a:effectLst/>
          </c:spPr>
          <c:invertIfNegative val="0"/>
          <c:cat>
            <c:strRef>
              <c:f>Planilha2!$E$20:$E$39</c:f>
              <c:strCache>
                <c:ptCount val="20"/>
                <c:pt idx="0">
                  <c:v>201701</c:v>
                </c:pt>
                <c:pt idx="1">
                  <c:v>201702</c:v>
                </c:pt>
                <c:pt idx="2">
                  <c:v>201703</c:v>
                </c:pt>
                <c:pt idx="3">
                  <c:v>201704</c:v>
                </c:pt>
                <c:pt idx="4">
                  <c:v>201705</c:v>
                </c:pt>
                <c:pt idx="5">
                  <c:v>201706</c:v>
                </c:pt>
                <c:pt idx="6">
                  <c:v>201707</c:v>
                </c:pt>
                <c:pt idx="7">
                  <c:v>201708</c:v>
                </c:pt>
                <c:pt idx="8">
                  <c:v>201709</c:v>
                </c:pt>
                <c:pt idx="9">
                  <c:v>201710</c:v>
                </c:pt>
                <c:pt idx="10">
                  <c:v>201711</c:v>
                </c:pt>
                <c:pt idx="11">
                  <c:v>201712</c:v>
                </c:pt>
                <c:pt idx="12">
                  <c:v>201801</c:v>
                </c:pt>
                <c:pt idx="13">
                  <c:v>201802</c:v>
                </c:pt>
                <c:pt idx="14">
                  <c:v>201803</c:v>
                </c:pt>
                <c:pt idx="15">
                  <c:v>201804</c:v>
                </c:pt>
                <c:pt idx="16">
                  <c:v>201805</c:v>
                </c:pt>
                <c:pt idx="17">
                  <c:v>201806</c:v>
                </c:pt>
                <c:pt idx="18">
                  <c:v>201807</c:v>
                </c:pt>
                <c:pt idx="19">
                  <c:v>201808</c:v>
                </c:pt>
              </c:strCache>
            </c:strRef>
          </c:cat>
          <c:val>
            <c:numRef>
              <c:f>Planilha2!$F$20:$F$39</c:f>
              <c:numCache>
                <c:formatCode>_-* #,##0.0_-;\-* #,##0.0_-;_-* "-"??_-;_-@_-</c:formatCode>
                <c:ptCount val="20"/>
                <c:pt idx="0">
                  <c:v>0.14611437999999999</c:v>
                </c:pt>
                <c:pt idx="1">
                  <c:v>0.29349609999999993</c:v>
                </c:pt>
                <c:pt idx="2">
                  <c:v>0.45140364000000016</c:v>
                </c:pt>
                <c:pt idx="3">
                  <c:v>0.43788769999999977</c:v>
                </c:pt>
                <c:pt idx="4">
                  <c:v>0.62142670999999994</c:v>
                </c:pt>
                <c:pt idx="5">
                  <c:v>0.52423747000000065</c:v>
                </c:pt>
                <c:pt idx="6">
                  <c:v>0.62597793999999984</c:v>
                </c:pt>
                <c:pt idx="7">
                  <c:v>0.69940673999999992</c:v>
                </c:pt>
                <c:pt idx="8">
                  <c:v>0.75861857000000055</c:v>
                </c:pt>
                <c:pt idx="9">
                  <c:v>0.7858142299999995</c:v>
                </c:pt>
                <c:pt idx="10">
                  <c:v>1.2149997999999991</c:v>
                </c:pt>
                <c:pt idx="11">
                  <c:v>0.87972185000000103</c:v>
                </c:pt>
                <c:pt idx="12">
                  <c:v>1.1311741600000011</c:v>
                </c:pt>
                <c:pt idx="13">
                  <c:v>1.0233551900000009</c:v>
                </c:pt>
                <c:pt idx="14">
                  <c:v>1.1887773599999996</c:v>
                </c:pt>
                <c:pt idx="15">
                  <c:v>1.1913386299999984</c:v>
                </c:pt>
                <c:pt idx="16">
                  <c:v>1.1845769099999994</c:v>
                </c:pt>
                <c:pt idx="17">
                  <c:v>1.0729273599999989</c:v>
                </c:pt>
                <c:pt idx="18">
                  <c:v>1.09122253</c:v>
                </c:pt>
                <c:pt idx="19">
                  <c:v>1.0332723100000003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71C-4244-BC5A-AE54B63C92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-27"/>
        <c:axId val="1966084096"/>
        <c:axId val="1966071616"/>
      </c:barChart>
      <c:lineChart>
        <c:grouping val="standard"/>
        <c:varyColors val="0"/>
        <c:ser>
          <c:idx val="1"/>
          <c:order val="1"/>
          <c:tx>
            <c:strRef>
              <c:f>Planilha2!$G$19</c:f>
              <c:strCache>
                <c:ptCount val="1"/>
                <c:pt idx="0">
                  <c:v>Ticket Médio</c:v>
                </c:pt>
              </c:strCache>
            </c:strRef>
          </c:tx>
          <c:spPr>
            <a:ln w="28575" cap="rnd">
              <a:solidFill>
                <a:srgbClr val="DF186A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chemeClr val="bg1"/>
              </a:solidFill>
              <a:ln w="31750">
                <a:solidFill>
                  <a:srgbClr val="DF186A"/>
                </a:solidFill>
              </a:ln>
              <a:effectLst/>
            </c:spPr>
          </c:marker>
          <c:cat>
            <c:strRef>
              <c:f>Planilha2!$E$20:$E$39</c:f>
              <c:strCache>
                <c:ptCount val="20"/>
                <c:pt idx="0">
                  <c:v>201701</c:v>
                </c:pt>
                <c:pt idx="1">
                  <c:v>201702</c:v>
                </c:pt>
                <c:pt idx="2">
                  <c:v>201703</c:v>
                </c:pt>
                <c:pt idx="3">
                  <c:v>201704</c:v>
                </c:pt>
                <c:pt idx="4">
                  <c:v>201705</c:v>
                </c:pt>
                <c:pt idx="5">
                  <c:v>201706</c:v>
                </c:pt>
                <c:pt idx="6">
                  <c:v>201707</c:v>
                </c:pt>
                <c:pt idx="7">
                  <c:v>201708</c:v>
                </c:pt>
                <c:pt idx="8">
                  <c:v>201709</c:v>
                </c:pt>
                <c:pt idx="9">
                  <c:v>201710</c:v>
                </c:pt>
                <c:pt idx="10">
                  <c:v>201711</c:v>
                </c:pt>
                <c:pt idx="11">
                  <c:v>201712</c:v>
                </c:pt>
                <c:pt idx="12">
                  <c:v>201801</c:v>
                </c:pt>
                <c:pt idx="13">
                  <c:v>201802</c:v>
                </c:pt>
                <c:pt idx="14">
                  <c:v>201803</c:v>
                </c:pt>
                <c:pt idx="15">
                  <c:v>201804</c:v>
                </c:pt>
                <c:pt idx="16">
                  <c:v>201805</c:v>
                </c:pt>
                <c:pt idx="17">
                  <c:v>201806</c:v>
                </c:pt>
                <c:pt idx="18">
                  <c:v>201807</c:v>
                </c:pt>
                <c:pt idx="19">
                  <c:v>201808</c:v>
                </c:pt>
              </c:strCache>
            </c:strRef>
          </c:cat>
          <c:val>
            <c:numRef>
              <c:f>Planilha2!$G$20:$G$39</c:f>
              <c:numCache>
                <c:formatCode>_-* #,##0_-;\-* #,##0_-;_-* "-"??_-;_-@_-</c:formatCode>
                <c:ptCount val="20"/>
                <c:pt idx="0">
                  <c:v>148.52538692458972</c:v>
                </c:pt>
                <c:pt idx="1">
                  <c:v>149.11015741725353</c:v>
                </c:pt>
                <c:pt idx="2">
                  <c:v>133.79117527243818</c:v>
                </c:pt>
                <c:pt idx="3">
                  <c:v>144.30462630250645</c:v>
                </c:pt>
                <c:pt idx="4">
                  <c:v>140.75062396647874</c:v>
                </c:pt>
                <c:pt idx="5">
                  <c:v>133.18470866822369</c:v>
                </c:pt>
                <c:pt idx="6">
                  <c:v>112.99644386051756</c:v>
                </c:pt>
                <c:pt idx="7">
                  <c:v>136.75243209707762</c:v>
                </c:pt>
                <c:pt idx="8">
                  <c:v>150.58851356006491</c:v>
                </c:pt>
                <c:pt idx="9">
                  <c:v>145.12934630679547</c:v>
                </c:pt>
                <c:pt idx="10">
                  <c:v>136.41704032708807</c:v>
                </c:pt>
                <c:pt idx="11">
                  <c:v>138.48073352446309</c:v>
                </c:pt>
                <c:pt idx="12">
                  <c:v>132.54579194866284</c:v>
                </c:pt>
                <c:pt idx="13">
                  <c:v>131.21463072258896</c:v>
                </c:pt>
                <c:pt idx="14">
                  <c:v>138.09437362740641</c:v>
                </c:pt>
                <c:pt idx="15">
                  <c:v>148.93838214337103</c:v>
                </c:pt>
                <c:pt idx="16">
                  <c:v>144.33950489106272</c:v>
                </c:pt>
                <c:pt idx="17">
                  <c:v>150.35570195166011</c:v>
                </c:pt>
                <c:pt idx="18">
                  <c:v>157.92126768502999</c:v>
                </c:pt>
                <c:pt idx="19">
                  <c:v>133.02876091993713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71C-4244-BC5A-AE54B63C92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60855360"/>
        <c:axId val="1960861120"/>
      </c:lineChart>
      <c:catAx>
        <c:axId val="19660840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pPr>
            <a:endParaRPr lang="pt-BR"/>
          </a:p>
        </c:txPr>
        <c:crossAx val="1966071616"/>
        <c:crosses val="autoZero"/>
        <c:auto val="1"/>
        <c:lblAlgn val="ctr"/>
        <c:lblOffset val="100"/>
        <c:noMultiLvlLbl val="0"/>
      </c:catAx>
      <c:valAx>
        <c:axId val="1966071616"/>
        <c:scaling>
          <c:orientation val="minMax"/>
        </c:scaling>
        <c:delete val="0"/>
        <c:axPos val="l"/>
        <c:numFmt formatCode="_-* #,##0.0_-;\-* #,##0.0_-;_-* &quot;-&quot;??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pPr>
            <a:endParaRPr lang="pt-BR"/>
          </a:p>
        </c:txPr>
        <c:crossAx val="1966084096"/>
        <c:crosses val="autoZero"/>
        <c:crossBetween val="between"/>
      </c:valAx>
      <c:valAx>
        <c:axId val="1960861120"/>
        <c:scaling>
          <c:orientation val="minMax"/>
          <c:max val="300"/>
        </c:scaling>
        <c:delete val="0"/>
        <c:axPos val="r"/>
        <c:numFmt formatCode="_-* #,##0_-;\-* #,##0_-;_-* &quot;-&quot;??_-;_-@_-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pPr>
            <a:endParaRPr lang="pt-BR"/>
          </a:p>
        </c:txPr>
        <c:crossAx val="1960855360"/>
        <c:crosses val="max"/>
        <c:crossBetween val="between"/>
      </c:valAx>
      <c:catAx>
        <c:axId val="196085536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96086112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defRPr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latin typeface="Segoe UI Semibold" panose="020B0702040204020203" pitchFamily="34" charset="0"/>
          <a:cs typeface="Segoe UI Semibold" panose="020B0702040204020203" pitchFamily="34" charset="0"/>
        </a:defRPr>
      </a:pPr>
      <a:endParaRPr lang="pt-B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Planilha2!$Y$5</c:f>
              <c:strCache>
                <c:ptCount val="1"/>
                <c:pt idx="0">
                  <c:v>SP</c:v>
                </c:pt>
              </c:strCache>
            </c:strRef>
          </c:tx>
          <c:spPr>
            <a:solidFill>
              <a:srgbClr val="5B092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Segoe UI Semibold" panose="020B0702040204020203" pitchFamily="34" charset="0"/>
                    <a:ea typeface="+mn-ea"/>
                    <a:cs typeface="Segoe UI Semibold" panose="020B0702040204020203" pitchFamily="34" charset="0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Planilha2!$Z$4:$AS$4</c:f>
              <c:strCache>
                <c:ptCount val="20"/>
                <c:pt idx="0">
                  <c:v>201701</c:v>
                </c:pt>
                <c:pt idx="1">
                  <c:v>201702</c:v>
                </c:pt>
                <c:pt idx="2">
                  <c:v>201703</c:v>
                </c:pt>
                <c:pt idx="3">
                  <c:v>201704</c:v>
                </c:pt>
                <c:pt idx="4">
                  <c:v>201705</c:v>
                </c:pt>
                <c:pt idx="5">
                  <c:v>201706</c:v>
                </c:pt>
                <c:pt idx="6">
                  <c:v>201707</c:v>
                </c:pt>
                <c:pt idx="7">
                  <c:v>201708</c:v>
                </c:pt>
                <c:pt idx="8">
                  <c:v>201709</c:v>
                </c:pt>
                <c:pt idx="9">
                  <c:v>201710</c:v>
                </c:pt>
                <c:pt idx="10">
                  <c:v>201711</c:v>
                </c:pt>
                <c:pt idx="11">
                  <c:v>201712</c:v>
                </c:pt>
                <c:pt idx="12">
                  <c:v>201801</c:v>
                </c:pt>
                <c:pt idx="13">
                  <c:v>201802</c:v>
                </c:pt>
                <c:pt idx="14">
                  <c:v>201803</c:v>
                </c:pt>
                <c:pt idx="15">
                  <c:v>201804</c:v>
                </c:pt>
                <c:pt idx="16">
                  <c:v>201805</c:v>
                </c:pt>
                <c:pt idx="17">
                  <c:v>201806</c:v>
                </c:pt>
                <c:pt idx="18">
                  <c:v>201807</c:v>
                </c:pt>
                <c:pt idx="19">
                  <c:v>201808</c:v>
                </c:pt>
              </c:strCache>
            </c:strRef>
          </c:cat>
          <c:val>
            <c:numRef>
              <c:f>Planilha2!$Z$5:$AS$5</c:f>
              <c:numCache>
                <c:formatCode>0%</c:formatCode>
                <c:ptCount val="20"/>
                <c:pt idx="0">
                  <c:v>0.38416685116596377</c:v>
                </c:pt>
                <c:pt idx="1">
                  <c:v>0.3697293613845371</c:v>
                </c:pt>
                <c:pt idx="2">
                  <c:v>0.41309826580741904</c:v>
                </c:pt>
                <c:pt idx="3">
                  <c:v>0.4157096037137763</c:v>
                </c:pt>
                <c:pt idx="4">
                  <c:v>0.41735598700640869</c:v>
                </c:pt>
                <c:pt idx="5">
                  <c:v>0.44773665100393223</c:v>
                </c:pt>
                <c:pt idx="6">
                  <c:v>0.41557538149617301</c:v>
                </c:pt>
                <c:pt idx="7">
                  <c:v>0.4023825732581609</c:v>
                </c:pt>
                <c:pt idx="8">
                  <c:v>0.4063932626066708</c:v>
                </c:pt>
                <c:pt idx="9">
                  <c:v>0.39020670561530546</c:v>
                </c:pt>
                <c:pt idx="10">
                  <c:v>0.40125796766228683</c:v>
                </c:pt>
                <c:pt idx="11">
                  <c:v>0.42119255825015645</c:v>
                </c:pt>
                <c:pt idx="12">
                  <c:v>0.44203768680363736</c:v>
                </c:pt>
                <c:pt idx="13">
                  <c:v>0.41493480912825181</c:v>
                </c:pt>
                <c:pt idx="14">
                  <c:v>0.43175612644707007</c:v>
                </c:pt>
                <c:pt idx="15">
                  <c:v>0.44297969438287071</c:v>
                </c:pt>
                <c:pt idx="16">
                  <c:v>0.46940616585245803</c:v>
                </c:pt>
                <c:pt idx="17">
                  <c:v>0.44397045562200727</c:v>
                </c:pt>
                <c:pt idx="18">
                  <c:v>0.41857514659774203</c:v>
                </c:pt>
                <c:pt idx="19">
                  <c:v>0.49939479491698391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B47-4985-964A-D37971C5378A}"/>
            </c:ext>
          </c:extLst>
        </c:ser>
        <c:ser>
          <c:idx val="1"/>
          <c:order val="1"/>
          <c:tx>
            <c:strRef>
              <c:f>Planilha2!$Y$6</c:f>
              <c:strCache>
                <c:ptCount val="1"/>
                <c:pt idx="0">
                  <c:v>RJ</c:v>
                </c:pt>
              </c:strCache>
            </c:strRef>
          </c:tx>
          <c:spPr>
            <a:solidFill>
              <a:srgbClr val="DF186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Segoe UI Semibold" panose="020B0702040204020203" pitchFamily="34" charset="0"/>
                    <a:ea typeface="+mn-ea"/>
                    <a:cs typeface="Segoe UI Semibold" panose="020B0702040204020203" pitchFamily="34" charset="0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Planilha2!$Z$4:$AS$4</c:f>
              <c:strCache>
                <c:ptCount val="20"/>
                <c:pt idx="0">
                  <c:v>201701</c:v>
                </c:pt>
                <c:pt idx="1">
                  <c:v>201702</c:v>
                </c:pt>
                <c:pt idx="2">
                  <c:v>201703</c:v>
                </c:pt>
                <c:pt idx="3">
                  <c:v>201704</c:v>
                </c:pt>
                <c:pt idx="4">
                  <c:v>201705</c:v>
                </c:pt>
                <c:pt idx="5">
                  <c:v>201706</c:v>
                </c:pt>
                <c:pt idx="6">
                  <c:v>201707</c:v>
                </c:pt>
                <c:pt idx="7">
                  <c:v>201708</c:v>
                </c:pt>
                <c:pt idx="8">
                  <c:v>201709</c:v>
                </c:pt>
                <c:pt idx="9">
                  <c:v>201710</c:v>
                </c:pt>
                <c:pt idx="10">
                  <c:v>201711</c:v>
                </c:pt>
                <c:pt idx="11">
                  <c:v>201712</c:v>
                </c:pt>
                <c:pt idx="12">
                  <c:v>201801</c:v>
                </c:pt>
                <c:pt idx="13">
                  <c:v>201802</c:v>
                </c:pt>
                <c:pt idx="14">
                  <c:v>201803</c:v>
                </c:pt>
                <c:pt idx="15">
                  <c:v>201804</c:v>
                </c:pt>
                <c:pt idx="16">
                  <c:v>201805</c:v>
                </c:pt>
                <c:pt idx="17">
                  <c:v>201806</c:v>
                </c:pt>
                <c:pt idx="18">
                  <c:v>201807</c:v>
                </c:pt>
                <c:pt idx="19">
                  <c:v>201808</c:v>
                </c:pt>
              </c:strCache>
            </c:strRef>
          </c:cat>
          <c:val>
            <c:numRef>
              <c:f>Planilha2!$Z$6:$AS$6</c:f>
              <c:numCache>
                <c:formatCode>0%</c:formatCode>
                <c:ptCount val="20"/>
                <c:pt idx="0">
                  <c:v>0.13810584915896124</c:v>
                </c:pt>
                <c:pt idx="1">
                  <c:v>0.1578757368308441</c:v>
                </c:pt>
                <c:pt idx="2">
                  <c:v>0.18083506875903738</c:v>
                </c:pt>
                <c:pt idx="3">
                  <c:v>0.17967906351864588</c:v>
                </c:pt>
                <c:pt idx="4">
                  <c:v>0.16547116974709575</c:v>
                </c:pt>
                <c:pt idx="5">
                  <c:v>0.13906081164563991</c:v>
                </c:pt>
                <c:pt idx="6">
                  <c:v>0.18266407133698606</c:v>
                </c:pt>
                <c:pt idx="7">
                  <c:v>0.16051975728586557</c:v>
                </c:pt>
                <c:pt idx="8">
                  <c:v>0.17990157409520374</c:v>
                </c:pt>
                <c:pt idx="9">
                  <c:v>0.17374994331868679</c:v>
                </c:pt>
                <c:pt idx="10">
                  <c:v>0.16620514909310111</c:v>
                </c:pt>
                <c:pt idx="11">
                  <c:v>0.17343120863379483</c:v>
                </c:pt>
                <c:pt idx="12">
                  <c:v>0.15025736367541101</c:v>
                </c:pt>
                <c:pt idx="13">
                  <c:v>0.16056086020166466</c:v>
                </c:pt>
                <c:pt idx="14">
                  <c:v>0.14432796603702283</c:v>
                </c:pt>
                <c:pt idx="15">
                  <c:v>0.14446383848173436</c:v>
                </c:pt>
                <c:pt idx="16">
                  <c:v>0.13997195290055373</c:v>
                </c:pt>
                <c:pt idx="17">
                  <c:v>0.1389308506565112</c:v>
                </c:pt>
                <c:pt idx="18">
                  <c:v>0.13660024294676118</c:v>
                </c:pt>
                <c:pt idx="19">
                  <c:v>0.1236525028256102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B47-4985-964A-D37971C5378A}"/>
            </c:ext>
          </c:extLst>
        </c:ser>
        <c:ser>
          <c:idx val="2"/>
          <c:order val="2"/>
          <c:tx>
            <c:strRef>
              <c:f>Planilha2!$Y$7</c:f>
              <c:strCache>
                <c:ptCount val="1"/>
                <c:pt idx="0">
                  <c:v>MG</c:v>
                </c:pt>
              </c:strCache>
            </c:strRef>
          </c:tx>
          <c:spPr>
            <a:solidFill>
              <a:srgbClr val="310E3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Segoe UI Semibold" panose="020B0702040204020203" pitchFamily="34" charset="0"/>
                    <a:ea typeface="+mn-ea"/>
                    <a:cs typeface="Segoe UI Semibold" panose="020B0702040204020203" pitchFamily="34" charset="0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Planilha2!$Z$4:$AS$4</c:f>
              <c:strCache>
                <c:ptCount val="20"/>
                <c:pt idx="0">
                  <c:v>201701</c:v>
                </c:pt>
                <c:pt idx="1">
                  <c:v>201702</c:v>
                </c:pt>
                <c:pt idx="2">
                  <c:v>201703</c:v>
                </c:pt>
                <c:pt idx="3">
                  <c:v>201704</c:v>
                </c:pt>
                <c:pt idx="4">
                  <c:v>201705</c:v>
                </c:pt>
                <c:pt idx="5">
                  <c:v>201706</c:v>
                </c:pt>
                <c:pt idx="6">
                  <c:v>201707</c:v>
                </c:pt>
                <c:pt idx="7">
                  <c:v>201708</c:v>
                </c:pt>
                <c:pt idx="8">
                  <c:v>201709</c:v>
                </c:pt>
                <c:pt idx="9">
                  <c:v>201710</c:v>
                </c:pt>
                <c:pt idx="10">
                  <c:v>201711</c:v>
                </c:pt>
                <c:pt idx="11">
                  <c:v>201712</c:v>
                </c:pt>
                <c:pt idx="12">
                  <c:v>201801</c:v>
                </c:pt>
                <c:pt idx="13">
                  <c:v>201802</c:v>
                </c:pt>
                <c:pt idx="14">
                  <c:v>201803</c:v>
                </c:pt>
                <c:pt idx="15">
                  <c:v>201804</c:v>
                </c:pt>
                <c:pt idx="16">
                  <c:v>201805</c:v>
                </c:pt>
                <c:pt idx="17">
                  <c:v>201806</c:v>
                </c:pt>
                <c:pt idx="18">
                  <c:v>201807</c:v>
                </c:pt>
                <c:pt idx="19">
                  <c:v>201808</c:v>
                </c:pt>
              </c:strCache>
            </c:strRef>
          </c:cat>
          <c:val>
            <c:numRef>
              <c:f>Planilha2!$Z$7:$AS$7</c:f>
              <c:numCache>
                <c:formatCode>0%</c:formatCode>
                <c:ptCount val="20"/>
                <c:pt idx="0">
                  <c:v>0.1491761985647351</c:v>
                </c:pt>
                <c:pt idx="1">
                  <c:v>0.15152452621257032</c:v>
                </c:pt>
                <c:pt idx="2">
                  <c:v>0.13030287988267453</c:v>
                </c:pt>
                <c:pt idx="3">
                  <c:v>0.12750506326578337</c:v>
                </c:pt>
                <c:pt idx="4">
                  <c:v>0.11279410105652032</c:v>
                </c:pt>
                <c:pt idx="5">
                  <c:v>0.12258902064717447</c:v>
                </c:pt>
                <c:pt idx="6">
                  <c:v>0.12321091057669646</c:v>
                </c:pt>
                <c:pt idx="7">
                  <c:v>0.1209068716169734</c:v>
                </c:pt>
                <c:pt idx="8">
                  <c:v>0.13169589624913614</c:v>
                </c:pt>
                <c:pt idx="9">
                  <c:v>0.14986681444552297</c:v>
                </c:pt>
                <c:pt idx="10">
                  <c:v>0.15169363284395612</c:v>
                </c:pt>
                <c:pt idx="11">
                  <c:v>0.1421126365511165</c:v>
                </c:pt>
                <c:pt idx="12">
                  <c:v>0.1372779047399022</c:v>
                </c:pt>
                <c:pt idx="13">
                  <c:v>0.14242616264549651</c:v>
                </c:pt>
                <c:pt idx="14">
                  <c:v>0.13930392686149473</c:v>
                </c:pt>
                <c:pt idx="15">
                  <c:v>0.12538682406118687</c:v>
                </c:pt>
                <c:pt idx="16">
                  <c:v>0.11660700398840937</c:v>
                </c:pt>
                <c:pt idx="17">
                  <c:v>0.13981117673798171</c:v>
                </c:pt>
                <c:pt idx="18">
                  <c:v>0.12871324198074938</c:v>
                </c:pt>
                <c:pt idx="19">
                  <c:v>0.12277944590623288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B47-4985-964A-D37971C5378A}"/>
            </c:ext>
          </c:extLst>
        </c:ser>
        <c:ser>
          <c:idx val="3"/>
          <c:order val="3"/>
          <c:tx>
            <c:strRef>
              <c:f>Planilha2!$Y$8</c:f>
              <c:strCache>
                <c:ptCount val="1"/>
                <c:pt idx="0">
                  <c:v>RS</c:v>
                </c:pt>
              </c:strCache>
            </c:strRef>
          </c:tx>
          <c:spPr>
            <a:solidFill>
              <a:srgbClr val="0C2944"/>
            </a:solidFill>
            <a:ln>
              <a:noFill/>
            </a:ln>
            <a:effectLst/>
          </c:spPr>
          <c:invertIfNegative val="0"/>
          <c:dLbls>
            <c:spPr>
              <a:solidFill>
                <a:srgbClr val="0C2944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Segoe UI Semibold" panose="020B0702040204020203" pitchFamily="34" charset="0"/>
                    <a:ea typeface="+mn-ea"/>
                    <a:cs typeface="Segoe UI Semibold" panose="020B0702040204020203" pitchFamily="34" charset="0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Planilha2!$Z$4:$AS$4</c:f>
              <c:strCache>
                <c:ptCount val="20"/>
                <c:pt idx="0">
                  <c:v>201701</c:v>
                </c:pt>
                <c:pt idx="1">
                  <c:v>201702</c:v>
                </c:pt>
                <c:pt idx="2">
                  <c:v>201703</c:v>
                </c:pt>
                <c:pt idx="3">
                  <c:v>201704</c:v>
                </c:pt>
                <c:pt idx="4">
                  <c:v>201705</c:v>
                </c:pt>
                <c:pt idx="5">
                  <c:v>201706</c:v>
                </c:pt>
                <c:pt idx="6">
                  <c:v>201707</c:v>
                </c:pt>
                <c:pt idx="7">
                  <c:v>201708</c:v>
                </c:pt>
                <c:pt idx="8">
                  <c:v>201709</c:v>
                </c:pt>
                <c:pt idx="9">
                  <c:v>201710</c:v>
                </c:pt>
                <c:pt idx="10">
                  <c:v>201711</c:v>
                </c:pt>
                <c:pt idx="11">
                  <c:v>201712</c:v>
                </c:pt>
                <c:pt idx="12">
                  <c:v>201801</c:v>
                </c:pt>
                <c:pt idx="13">
                  <c:v>201802</c:v>
                </c:pt>
                <c:pt idx="14">
                  <c:v>201803</c:v>
                </c:pt>
                <c:pt idx="15">
                  <c:v>201804</c:v>
                </c:pt>
                <c:pt idx="16">
                  <c:v>201805</c:v>
                </c:pt>
                <c:pt idx="17">
                  <c:v>201806</c:v>
                </c:pt>
                <c:pt idx="18">
                  <c:v>201807</c:v>
                </c:pt>
                <c:pt idx="19">
                  <c:v>201808</c:v>
                </c:pt>
              </c:strCache>
            </c:strRef>
          </c:cat>
          <c:val>
            <c:numRef>
              <c:f>Planilha2!$Z$8:$AS$8</c:f>
              <c:numCache>
                <c:formatCode>0%</c:formatCode>
                <c:ptCount val="20"/>
                <c:pt idx="0">
                  <c:v>0.11210393965976267</c:v>
                </c:pt>
                <c:pt idx="1">
                  <c:v>7.4204851396695623E-2</c:v>
                </c:pt>
                <c:pt idx="2">
                  <c:v>5.9531349954051745E-2</c:v>
                </c:pt>
                <c:pt idx="3">
                  <c:v>6.1017025943335586E-2</c:v>
                </c:pt>
                <c:pt idx="4">
                  <c:v>6.4897889527192068E-2</c:v>
                </c:pt>
                <c:pt idx="5">
                  <c:v>6.3450478319782316E-2</c:v>
                </c:pt>
                <c:pt idx="6">
                  <c:v>7.5656135197384289E-2</c:v>
                </c:pt>
                <c:pt idx="7">
                  <c:v>7.0353629136208101E-2</c:v>
                </c:pt>
                <c:pt idx="8">
                  <c:v>6.7878855533592131E-2</c:v>
                </c:pt>
                <c:pt idx="9">
                  <c:v>6.8570908289208518E-2</c:v>
                </c:pt>
                <c:pt idx="10">
                  <c:v>6.6328221069602122E-2</c:v>
                </c:pt>
                <c:pt idx="11">
                  <c:v>6.703420021148522E-2</c:v>
                </c:pt>
                <c:pt idx="12">
                  <c:v>5.9259131001099488E-2</c:v>
                </c:pt>
                <c:pt idx="13">
                  <c:v>6.2846031762315388E-2</c:v>
                </c:pt>
                <c:pt idx="14">
                  <c:v>6.7210768647789437E-2</c:v>
                </c:pt>
                <c:pt idx="15">
                  <c:v>5.8892556820407442E-2</c:v>
                </c:pt>
                <c:pt idx="16">
                  <c:v>6.433353501240302E-2</c:v>
                </c:pt>
                <c:pt idx="17">
                  <c:v>5.9327771134333102E-2</c:v>
                </c:pt>
                <c:pt idx="18">
                  <c:v>5.9171270468841311E-2</c:v>
                </c:pt>
                <c:pt idx="19">
                  <c:v>5.6402746644646465E-2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B47-4985-964A-D37971C5378A}"/>
            </c:ext>
          </c:extLst>
        </c:ser>
        <c:ser>
          <c:idx val="4"/>
          <c:order val="4"/>
          <c:tx>
            <c:strRef>
              <c:f>Planilha2!$Y$9</c:f>
              <c:strCache>
                <c:ptCount val="1"/>
                <c:pt idx="0">
                  <c:v>PR</c:v>
                </c:pt>
              </c:strCache>
            </c:strRef>
          </c:tx>
          <c:spPr>
            <a:solidFill>
              <a:srgbClr val="19558C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Segoe UI Semibold" panose="020B0702040204020203" pitchFamily="34" charset="0"/>
                    <a:ea typeface="+mn-ea"/>
                    <a:cs typeface="Segoe UI Semibold" panose="020B0702040204020203" pitchFamily="34" charset="0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Planilha2!$Z$4:$AS$4</c:f>
              <c:strCache>
                <c:ptCount val="20"/>
                <c:pt idx="0">
                  <c:v>201701</c:v>
                </c:pt>
                <c:pt idx="1">
                  <c:v>201702</c:v>
                </c:pt>
                <c:pt idx="2">
                  <c:v>201703</c:v>
                </c:pt>
                <c:pt idx="3">
                  <c:v>201704</c:v>
                </c:pt>
                <c:pt idx="4">
                  <c:v>201705</c:v>
                </c:pt>
                <c:pt idx="5">
                  <c:v>201706</c:v>
                </c:pt>
                <c:pt idx="6">
                  <c:v>201707</c:v>
                </c:pt>
                <c:pt idx="7">
                  <c:v>201708</c:v>
                </c:pt>
                <c:pt idx="8">
                  <c:v>201709</c:v>
                </c:pt>
                <c:pt idx="9">
                  <c:v>201710</c:v>
                </c:pt>
                <c:pt idx="10">
                  <c:v>201711</c:v>
                </c:pt>
                <c:pt idx="11">
                  <c:v>201712</c:v>
                </c:pt>
                <c:pt idx="12">
                  <c:v>201801</c:v>
                </c:pt>
                <c:pt idx="13">
                  <c:v>201802</c:v>
                </c:pt>
                <c:pt idx="14">
                  <c:v>201803</c:v>
                </c:pt>
                <c:pt idx="15">
                  <c:v>201804</c:v>
                </c:pt>
                <c:pt idx="16">
                  <c:v>201805</c:v>
                </c:pt>
                <c:pt idx="17">
                  <c:v>201806</c:v>
                </c:pt>
                <c:pt idx="18">
                  <c:v>201807</c:v>
                </c:pt>
                <c:pt idx="19">
                  <c:v>201808</c:v>
                </c:pt>
              </c:strCache>
            </c:strRef>
          </c:cat>
          <c:val>
            <c:numRef>
              <c:f>Planilha2!$Z$9:$AS$9</c:f>
              <c:numCache>
                <c:formatCode>0%</c:formatCode>
                <c:ptCount val="20"/>
                <c:pt idx="0">
                  <c:v>5.0774102141055939E-2</c:v>
                </c:pt>
                <c:pt idx="1">
                  <c:v>8.7610249566749052E-2</c:v>
                </c:pt>
                <c:pt idx="2">
                  <c:v>5.0964460433884091E-2</c:v>
                </c:pt>
                <c:pt idx="3">
                  <c:v>4.7706410411708838E-2</c:v>
                </c:pt>
                <c:pt idx="4">
                  <c:v>6.7301660693499188E-2</c:v>
                </c:pt>
                <c:pt idx="5">
                  <c:v>5.5576758366981782E-2</c:v>
                </c:pt>
                <c:pt idx="6">
                  <c:v>5.5435695975145992E-2</c:v>
                </c:pt>
                <c:pt idx="7">
                  <c:v>5.8716230547936288E-2</c:v>
                </c:pt>
                <c:pt idx="8">
                  <c:v>4.281793238935605E-2</c:v>
                </c:pt>
                <c:pt idx="9">
                  <c:v>5.8868280053248186E-2</c:v>
                </c:pt>
                <c:pt idx="10">
                  <c:v>5.3586171970859152E-2</c:v>
                </c:pt>
                <c:pt idx="11">
                  <c:v>4.5340612658454738E-2</c:v>
                </c:pt>
                <c:pt idx="12">
                  <c:v>5.5537779916370489E-2</c:v>
                </c:pt>
                <c:pt idx="13">
                  <c:v>5.8378870267207013E-2</c:v>
                </c:pt>
                <c:pt idx="14">
                  <c:v>6.109614342608511E-2</c:v>
                </c:pt>
                <c:pt idx="15">
                  <c:v>7.5323140195102875E-2</c:v>
                </c:pt>
                <c:pt idx="16">
                  <c:v>5.2572239066675144E-2</c:v>
                </c:pt>
                <c:pt idx="17">
                  <c:v>5.5276077113117245E-2</c:v>
                </c:pt>
                <c:pt idx="18">
                  <c:v>6.181317556919632E-2</c:v>
                </c:pt>
                <c:pt idx="19">
                  <c:v>5.5361204683164682E-2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B47-4985-964A-D37971C5378A}"/>
            </c:ext>
          </c:extLst>
        </c:ser>
        <c:ser>
          <c:idx val="5"/>
          <c:order val="5"/>
          <c:tx>
            <c:strRef>
              <c:f>Planilha2!$Y$10</c:f>
              <c:strCache>
                <c:ptCount val="1"/>
                <c:pt idx="0">
                  <c:v>BA</c:v>
                </c:pt>
              </c:strCache>
            </c:strRef>
          </c:tx>
          <c:spPr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Segoe UI Semibold" panose="020B0702040204020203" pitchFamily="34" charset="0"/>
                    <a:ea typeface="+mn-ea"/>
                    <a:cs typeface="Segoe UI Semibold" panose="020B0702040204020203" pitchFamily="34" charset="0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Planilha2!$Z$4:$AS$4</c:f>
              <c:strCache>
                <c:ptCount val="20"/>
                <c:pt idx="0">
                  <c:v>201701</c:v>
                </c:pt>
                <c:pt idx="1">
                  <c:v>201702</c:v>
                </c:pt>
                <c:pt idx="2">
                  <c:v>201703</c:v>
                </c:pt>
                <c:pt idx="3">
                  <c:v>201704</c:v>
                </c:pt>
                <c:pt idx="4">
                  <c:v>201705</c:v>
                </c:pt>
                <c:pt idx="5">
                  <c:v>201706</c:v>
                </c:pt>
                <c:pt idx="6">
                  <c:v>201707</c:v>
                </c:pt>
                <c:pt idx="7">
                  <c:v>201708</c:v>
                </c:pt>
                <c:pt idx="8">
                  <c:v>201709</c:v>
                </c:pt>
                <c:pt idx="9">
                  <c:v>201710</c:v>
                </c:pt>
                <c:pt idx="10">
                  <c:v>201711</c:v>
                </c:pt>
                <c:pt idx="11">
                  <c:v>201712</c:v>
                </c:pt>
                <c:pt idx="12">
                  <c:v>201801</c:v>
                </c:pt>
                <c:pt idx="13">
                  <c:v>201802</c:v>
                </c:pt>
                <c:pt idx="14">
                  <c:v>201803</c:v>
                </c:pt>
                <c:pt idx="15">
                  <c:v>201804</c:v>
                </c:pt>
                <c:pt idx="16">
                  <c:v>201805</c:v>
                </c:pt>
                <c:pt idx="17">
                  <c:v>201806</c:v>
                </c:pt>
                <c:pt idx="18">
                  <c:v>201807</c:v>
                </c:pt>
                <c:pt idx="19">
                  <c:v>201808</c:v>
                </c:pt>
              </c:strCache>
            </c:strRef>
          </c:cat>
          <c:val>
            <c:numRef>
              <c:f>Planilha2!$Z$10:$AS$10</c:f>
              <c:numCache>
                <c:formatCode>0%</c:formatCode>
                <c:ptCount val="20"/>
                <c:pt idx="0">
                  <c:v>3.6587561565137747E-2</c:v>
                </c:pt>
                <c:pt idx="1">
                  <c:v>4.3616329783835915E-2</c:v>
                </c:pt>
                <c:pt idx="2">
                  <c:v>4.9005473921647204E-2</c:v>
                </c:pt>
                <c:pt idx="3">
                  <c:v>5.7460162997136514E-2</c:v>
                </c:pt>
                <c:pt idx="4">
                  <c:v>3.8614039284821017E-2</c:v>
                </c:pt>
                <c:pt idx="5">
                  <c:v>5.7974904834436396E-2</c:v>
                </c:pt>
                <c:pt idx="6">
                  <c:v>4.4058724339041781E-2</c:v>
                </c:pt>
                <c:pt idx="7">
                  <c:v>6.3584859390769272E-2</c:v>
                </c:pt>
                <c:pt idx="8">
                  <c:v>4.5963512854726898E-2</c:v>
                </c:pt>
                <c:pt idx="9">
                  <c:v>4.5411533729943616E-2</c:v>
                </c:pt>
                <c:pt idx="10">
                  <c:v>3.5235332340541631E-2</c:v>
                </c:pt>
                <c:pt idx="11">
                  <c:v>4.3957234530332172E-2</c:v>
                </c:pt>
                <c:pt idx="12">
                  <c:v>4.3972659809016781E-2</c:v>
                </c:pt>
                <c:pt idx="13">
                  <c:v>4.4127462262175288E-2</c:v>
                </c:pt>
                <c:pt idx="14">
                  <c:v>4.6661999894989897E-2</c:v>
                </c:pt>
                <c:pt idx="15">
                  <c:v>3.7676005228006522E-2</c:v>
                </c:pt>
                <c:pt idx="16">
                  <c:v>4.1076793510991097E-2</c:v>
                </c:pt>
                <c:pt idx="17">
                  <c:v>4.8868253346263338E-2</c:v>
                </c:pt>
                <c:pt idx="18">
                  <c:v>5.5948823126330399E-2</c:v>
                </c:pt>
                <c:pt idx="19">
                  <c:v>3.0015030185537462E-2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7B47-4985-964A-D37971C5378A}"/>
            </c:ext>
          </c:extLst>
        </c:ser>
        <c:ser>
          <c:idx val="6"/>
          <c:order val="6"/>
          <c:tx>
            <c:strRef>
              <c:f>Planilha2!$Y$11</c:f>
              <c:strCache>
                <c:ptCount val="1"/>
                <c:pt idx="0">
                  <c:v>SC</c:v>
                </c:pt>
              </c:strCache>
            </c:strRef>
          </c:tx>
          <c:spPr>
            <a:solidFill>
              <a:schemeClr val="bg1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Segoe UI Semibold" panose="020B0702040204020203" pitchFamily="34" charset="0"/>
                    <a:ea typeface="+mn-ea"/>
                    <a:cs typeface="Segoe UI Semibold" panose="020B0702040204020203" pitchFamily="34" charset="0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Planilha2!$Z$4:$AS$4</c:f>
              <c:strCache>
                <c:ptCount val="20"/>
                <c:pt idx="0">
                  <c:v>201701</c:v>
                </c:pt>
                <c:pt idx="1">
                  <c:v>201702</c:v>
                </c:pt>
                <c:pt idx="2">
                  <c:v>201703</c:v>
                </c:pt>
                <c:pt idx="3">
                  <c:v>201704</c:v>
                </c:pt>
                <c:pt idx="4">
                  <c:v>201705</c:v>
                </c:pt>
                <c:pt idx="5">
                  <c:v>201706</c:v>
                </c:pt>
                <c:pt idx="6">
                  <c:v>201707</c:v>
                </c:pt>
                <c:pt idx="7">
                  <c:v>201708</c:v>
                </c:pt>
                <c:pt idx="8">
                  <c:v>201709</c:v>
                </c:pt>
                <c:pt idx="9">
                  <c:v>201710</c:v>
                </c:pt>
                <c:pt idx="10">
                  <c:v>201711</c:v>
                </c:pt>
                <c:pt idx="11">
                  <c:v>201712</c:v>
                </c:pt>
                <c:pt idx="12">
                  <c:v>201801</c:v>
                </c:pt>
                <c:pt idx="13">
                  <c:v>201802</c:v>
                </c:pt>
                <c:pt idx="14">
                  <c:v>201803</c:v>
                </c:pt>
                <c:pt idx="15">
                  <c:v>201804</c:v>
                </c:pt>
                <c:pt idx="16">
                  <c:v>201805</c:v>
                </c:pt>
                <c:pt idx="17">
                  <c:v>201806</c:v>
                </c:pt>
                <c:pt idx="18">
                  <c:v>201807</c:v>
                </c:pt>
                <c:pt idx="19">
                  <c:v>201808</c:v>
                </c:pt>
              </c:strCache>
            </c:strRef>
          </c:cat>
          <c:val>
            <c:numRef>
              <c:f>Planilha2!$Z$11:$AS$11</c:f>
              <c:numCache>
                <c:formatCode>0%</c:formatCode>
                <c:ptCount val="20"/>
                <c:pt idx="0">
                  <c:v>5.8767340029711498E-2</c:v>
                </c:pt>
                <c:pt idx="1">
                  <c:v>3.7459694224706415E-2</c:v>
                </c:pt>
                <c:pt idx="2">
                  <c:v>5.2381491887453585E-2</c:v>
                </c:pt>
                <c:pt idx="3">
                  <c:v>4.1261226722905914E-2</c:v>
                </c:pt>
                <c:pt idx="4">
                  <c:v>5.1302782365171599E-2</c:v>
                </c:pt>
                <c:pt idx="5">
                  <c:v>3.915284941311082E-2</c:v>
                </c:pt>
                <c:pt idx="6">
                  <c:v>4.3196295922183783E-2</c:v>
                </c:pt>
                <c:pt idx="7">
                  <c:v>4.4310290580185478E-2</c:v>
                </c:pt>
                <c:pt idx="8">
                  <c:v>4.8194274737931274E-2</c:v>
                </c:pt>
                <c:pt idx="9">
                  <c:v>3.7477242705348919E-2</c:v>
                </c:pt>
                <c:pt idx="10">
                  <c:v>4.3826070943752224E-2</c:v>
                </c:pt>
                <c:pt idx="11">
                  <c:v>3.7352224645948201E-2</c:v>
                </c:pt>
                <c:pt idx="12">
                  <c:v>4.664288033887707E-2</c:v>
                </c:pt>
                <c:pt idx="13">
                  <c:v>4.3299393729181949E-2</c:v>
                </c:pt>
                <c:pt idx="14">
                  <c:v>4.2098263976782457E-2</c:v>
                </c:pt>
                <c:pt idx="15">
                  <c:v>4.8965784181857215E-2</c:v>
                </c:pt>
                <c:pt idx="16">
                  <c:v>3.9541938144106593E-2</c:v>
                </c:pt>
                <c:pt idx="17">
                  <c:v>4.3434558158146966E-2</c:v>
                </c:pt>
                <c:pt idx="18">
                  <c:v>3.9967891183626043E-2</c:v>
                </c:pt>
                <c:pt idx="19">
                  <c:v>4.356385649084845E-2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B47-4985-964A-D37971C5378A}"/>
            </c:ext>
          </c:extLst>
        </c:ser>
        <c:ser>
          <c:idx val="7"/>
          <c:order val="7"/>
          <c:tx>
            <c:strRef>
              <c:f>Planilha2!$Y$12</c:f>
              <c:strCache>
                <c:ptCount val="1"/>
                <c:pt idx="0">
                  <c:v>DF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Planilha2!$Z$4:$AS$4</c:f>
              <c:strCache>
                <c:ptCount val="20"/>
                <c:pt idx="0">
                  <c:v>201701</c:v>
                </c:pt>
                <c:pt idx="1">
                  <c:v>201702</c:v>
                </c:pt>
                <c:pt idx="2">
                  <c:v>201703</c:v>
                </c:pt>
                <c:pt idx="3">
                  <c:v>201704</c:v>
                </c:pt>
                <c:pt idx="4">
                  <c:v>201705</c:v>
                </c:pt>
                <c:pt idx="5">
                  <c:v>201706</c:v>
                </c:pt>
                <c:pt idx="6">
                  <c:v>201707</c:v>
                </c:pt>
                <c:pt idx="7">
                  <c:v>201708</c:v>
                </c:pt>
                <c:pt idx="8">
                  <c:v>201709</c:v>
                </c:pt>
                <c:pt idx="9">
                  <c:v>201710</c:v>
                </c:pt>
                <c:pt idx="10">
                  <c:v>201711</c:v>
                </c:pt>
                <c:pt idx="11">
                  <c:v>201712</c:v>
                </c:pt>
                <c:pt idx="12">
                  <c:v>201801</c:v>
                </c:pt>
                <c:pt idx="13">
                  <c:v>201802</c:v>
                </c:pt>
                <c:pt idx="14">
                  <c:v>201803</c:v>
                </c:pt>
                <c:pt idx="15">
                  <c:v>201804</c:v>
                </c:pt>
                <c:pt idx="16">
                  <c:v>201805</c:v>
                </c:pt>
                <c:pt idx="17">
                  <c:v>201806</c:v>
                </c:pt>
                <c:pt idx="18">
                  <c:v>201807</c:v>
                </c:pt>
                <c:pt idx="19">
                  <c:v>201808</c:v>
                </c:pt>
              </c:strCache>
            </c:strRef>
          </c:cat>
          <c:val>
            <c:numRef>
              <c:f>Planilha2!$Z$12:$AS$12</c:f>
              <c:numCache>
                <c:formatCode>0%</c:formatCode>
                <c:ptCount val="20"/>
                <c:pt idx="0">
                  <c:v>1.6483547035338421E-2</c:v>
                </c:pt>
                <c:pt idx="1">
                  <c:v>4.4080397586977231E-2</c:v>
                </c:pt>
                <c:pt idx="2">
                  <c:v>2.3215374253158023E-2</c:v>
                </c:pt>
                <c:pt idx="3">
                  <c:v>3.4328970395536874E-2</c:v>
                </c:pt>
                <c:pt idx="4">
                  <c:v>1.8752836464138764E-2</c:v>
                </c:pt>
                <c:pt idx="5">
                  <c:v>2.0959013337485132E-2</c:v>
                </c:pt>
                <c:pt idx="6">
                  <c:v>2.3404959700499682E-2</c:v>
                </c:pt>
                <c:pt idx="7">
                  <c:v>2.0252839661473242E-2</c:v>
                </c:pt>
                <c:pt idx="8">
                  <c:v>2.5336213564549598E-2</c:v>
                </c:pt>
                <c:pt idx="9">
                  <c:v>2.3292161155142193E-2</c:v>
                </c:pt>
                <c:pt idx="10">
                  <c:v>3.0467333800547038E-2</c:v>
                </c:pt>
                <c:pt idx="11">
                  <c:v>2.6381128333174183E-2</c:v>
                </c:pt>
                <c:pt idx="12">
                  <c:v>2.068063268871231E-2</c:v>
                </c:pt>
                <c:pt idx="13">
                  <c:v>2.7456374483881836E-2</c:v>
                </c:pt>
                <c:pt idx="14">
                  <c:v>2.4254152483427813E-2</c:v>
                </c:pt>
                <c:pt idx="15">
                  <c:v>2.1322819331767051E-2</c:v>
                </c:pt>
                <c:pt idx="16">
                  <c:v>2.7903227470416497E-2</c:v>
                </c:pt>
                <c:pt idx="17">
                  <c:v>2.6347251041554512E-2</c:v>
                </c:pt>
                <c:pt idx="18">
                  <c:v>3.0059073215751346E-2</c:v>
                </c:pt>
                <c:pt idx="19">
                  <c:v>2.5327729483226251E-2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7B47-4985-964A-D37971C5378A}"/>
            </c:ext>
          </c:extLst>
        </c:ser>
        <c:ser>
          <c:idx val="8"/>
          <c:order val="8"/>
          <c:tx>
            <c:strRef>
              <c:f>Planilha2!$Y$13</c:f>
              <c:strCache>
                <c:ptCount val="1"/>
                <c:pt idx="0">
                  <c:v>GO</c:v>
                </c:pt>
              </c:strCache>
            </c:strRef>
          </c:tx>
          <c:spPr>
            <a:solidFill>
              <a:schemeClr val="bg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Planilha2!$Z$4:$AS$4</c:f>
              <c:strCache>
                <c:ptCount val="20"/>
                <c:pt idx="0">
                  <c:v>201701</c:v>
                </c:pt>
                <c:pt idx="1">
                  <c:v>201702</c:v>
                </c:pt>
                <c:pt idx="2">
                  <c:v>201703</c:v>
                </c:pt>
                <c:pt idx="3">
                  <c:v>201704</c:v>
                </c:pt>
                <c:pt idx="4">
                  <c:v>201705</c:v>
                </c:pt>
                <c:pt idx="5">
                  <c:v>201706</c:v>
                </c:pt>
                <c:pt idx="6">
                  <c:v>201707</c:v>
                </c:pt>
                <c:pt idx="7">
                  <c:v>201708</c:v>
                </c:pt>
                <c:pt idx="8">
                  <c:v>201709</c:v>
                </c:pt>
                <c:pt idx="9">
                  <c:v>201710</c:v>
                </c:pt>
                <c:pt idx="10">
                  <c:v>201711</c:v>
                </c:pt>
                <c:pt idx="11">
                  <c:v>201712</c:v>
                </c:pt>
                <c:pt idx="12">
                  <c:v>201801</c:v>
                </c:pt>
                <c:pt idx="13">
                  <c:v>201802</c:v>
                </c:pt>
                <c:pt idx="14">
                  <c:v>201803</c:v>
                </c:pt>
                <c:pt idx="15">
                  <c:v>201804</c:v>
                </c:pt>
                <c:pt idx="16">
                  <c:v>201805</c:v>
                </c:pt>
                <c:pt idx="17">
                  <c:v>201806</c:v>
                </c:pt>
                <c:pt idx="18">
                  <c:v>201807</c:v>
                </c:pt>
                <c:pt idx="19">
                  <c:v>201808</c:v>
                </c:pt>
              </c:strCache>
            </c:strRef>
          </c:cat>
          <c:val>
            <c:numRef>
              <c:f>Planilha2!$Z$13:$AS$13</c:f>
              <c:numCache>
                <c:formatCode>0%</c:formatCode>
                <c:ptCount val="20"/>
                <c:pt idx="0">
                  <c:v>3.431373662334411E-2</c:v>
                </c:pt>
                <c:pt idx="1">
                  <c:v>1.2171264180159387E-2</c:v>
                </c:pt>
                <c:pt idx="2">
                  <c:v>2.5394236621786827E-2</c:v>
                </c:pt>
                <c:pt idx="3">
                  <c:v>1.6808385305003896E-2</c:v>
                </c:pt>
                <c:pt idx="4">
                  <c:v>3.1793518194236821E-2</c:v>
                </c:pt>
                <c:pt idx="5">
                  <c:v>2.6764440907815028E-2</c:v>
                </c:pt>
                <c:pt idx="6">
                  <c:v>1.9961215655334395E-2</c:v>
                </c:pt>
                <c:pt idx="7">
                  <c:v>3.1970779534346724E-2</c:v>
                </c:pt>
                <c:pt idx="8">
                  <c:v>3.1521083985307209E-2</c:v>
                </c:pt>
                <c:pt idx="9">
                  <c:v>3.1272635567367257E-2</c:v>
                </c:pt>
                <c:pt idx="10">
                  <c:v>2.4007733943195376E-2</c:v>
                </c:pt>
                <c:pt idx="11">
                  <c:v>2.3800652400056067E-2</c:v>
                </c:pt>
                <c:pt idx="12">
                  <c:v>1.9960290466523457E-2</c:v>
                </c:pt>
                <c:pt idx="13">
                  <c:v>2.3279385748629585E-2</c:v>
                </c:pt>
                <c:pt idx="14">
                  <c:v>2.2851676413467439E-2</c:v>
                </c:pt>
                <c:pt idx="15">
                  <c:v>2.5528635507634033E-2</c:v>
                </c:pt>
                <c:pt idx="16">
                  <c:v>2.6963606225296512E-2</c:v>
                </c:pt>
                <c:pt idx="17">
                  <c:v>1.926698547650196E-2</c:v>
                </c:pt>
                <c:pt idx="18">
                  <c:v>3.2094118965296382E-2</c:v>
                </c:pt>
                <c:pt idx="19">
                  <c:v>2.2666549220281444E-2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B47-4985-964A-D37971C5378A}"/>
            </c:ext>
          </c:extLst>
        </c:ser>
        <c:ser>
          <c:idx val="9"/>
          <c:order val="9"/>
          <c:tx>
            <c:strRef>
              <c:f>Planilha2!$Y$14</c:f>
              <c:strCache>
                <c:ptCount val="1"/>
                <c:pt idx="0">
                  <c:v>ES</c:v>
                </c:pt>
              </c:strCache>
            </c:strRef>
          </c:tx>
          <c:spPr>
            <a:solidFill>
              <a:schemeClr val="tx1">
                <a:lumMod val="85000"/>
                <a:lumOff val="15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Planilha2!$Z$4:$AS$4</c:f>
              <c:strCache>
                <c:ptCount val="20"/>
                <c:pt idx="0">
                  <c:v>201701</c:v>
                </c:pt>
                <c:pt idx="1">
                  <c:v>201702</c:v>
                </c:pt>
                <c:pt idx="2">
                  <c:v>201703</c:v>
                </c:pt>
                <c:pt idx="3">
                  <c:v>201704</c:v>
                </c:pt>
                <c:pt idx="4">
                  <c:v>201705</c:v>
                </c:pt>
                <c:pt idx="5">
                  <c:v>201706</c:v>
                </c:pt>
                <c:pt idx="6">
                  <c:v>201707</c:v>
                </c:pt>
                <c:pt idx="7">
                  <c:v>201708</c:v>
                </c:pt>
                <c:pt idx="8">
                  <c:v>201709</c:v>
                </c:pt>
                <c:pt idx="9">
                  <c:v>201710</c:v>
                </c:pt>
                <c:pt idx="10">
                  <c:v>201711</c:v>
                </c:pt>
                <c:pt idx="11">
                  <c:v>201712</c:v>
                </c:pt>
                <c:pt idx="12">
                  <c:v>201801</c:v>
                </c:pt>
                <c:pt idx="13">
                  <c:v>201802</c:v>
                </c:pt>
                <c:pt idx="14">
                  <c:v>201803</c:v>
                </c:pt>
                <c:pt idx="15">
                  <c:v>201804</c:v>
                </c:pt>
                <c:pt idx="16">
                  <c:v>201805</c:v>
                </c:pt>
                <c:pt idx="17">
                  <c:v>201806</c:v>
                </c:pt>
                <c:pt idx="18">
                  <c:v>201807</c:v>
                </c:pt>
                <c:pt idx="19">
                  <c:v>201808</c:v>
                </c:pt>
              </c:strCache>
            </c:strRef>
          </c:cat>
          <c:val>
            <c:numRef>
              <c:f>Planilha2!$Z$14:$AS$14</c:f>
              <c:numCache>
                <c:formatCode>0%</c:formatCode>
                <c:ptCount val="20"/>
                <c:pt idx="0">
                  <c:v>1.9520874055989467E-2</c:v>
                </c:pt>
                <c:pt idx="1">
                  <c:v>2.1727588832924832E-2</c:v>
                </c:pt>
                <c:pt idx="2">
                  <c:v>1.5271398478887524E-2</c:v>
                </c:pt>
                <c:pt idx="3">
                  <c:v>1.8524087726166882E-2</c:v>
                </c:pt>
                <c:pt idx="4">
                  <c:v>3.1716015660915857E-2</c:v>
                </c:pt>
                <c:pt idx="5">
                  <c:v>2.6735071523641917E-2</c:v>
                </c:pt>
                <c:pt idx="6">
                  <c:v>1.6836609800554556E-2</c:v>
                </c:pt>
                <c:pt idx="7">
                  <c:v>2.7002168988081224E-2</c:v>
                </c:pt>
                <c:pt idx="8">
                  <c:v>2.0297393983526247E-2</c:v>
                </c:pt>
                <c:pt idx="9">
                  <c:v>2.1283775120226143E-2</c:v>
                </c:pt>
                <c:pt idx="10">
                  <c:v>2.7392386332158417E-2</c:v>
                </c:pt>
                <c:pt idx="11">
                  <c:v>1.9397543785481655E-2</c:v>
                </c:pt>
                <c:pt idx="12">
                  <c:v>2.4373670560449867E-2</c:v>
                </c:pt>
                <c:pt idx="13">
                  <c:v>2.2690649771195868E-2</c:v>
                </c:pt>
                <c:pt idx="14">
                  <c:v>2.0438975811870153E-2</c:v>
                </c:pt>
                <c:pt idx="15">
                  <c:v>1.9460701809432872E-2</c:v>
                </c:pt>
                <c:pt idx="16">
                  <c:v>2.1623537828689931E-2</c:v>
                </c:pt>
                <c:pt idx="17">
                  <c:v>2.4766620713582654E-2</c:v>
                </c:pt>
                <c:pt idx="18">
                  <c:v>3.7057015945705672E-2</c:v>
                </c:pt>
                <c:pt idx="19">
                  <c:v>2.0836139643468202E-2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7B47-4985-964A-D37971C5378A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40"/>
        <c:overlap val="100"/>
        <c:axId val="2091539408"/>
        <c:axId val="2091541328"/>
      </c:barChart>
      <c:catAx>
        <c:axId val="20915394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pPr>
            <a:endParaRPr lang="pt-BR"/>
          </a:p>
        </c:txPr>
        <c:crossAx val="2091541328"/>
        <c:crosses val="autoZero"/>
        <c:auto val="1"/>
        <c:lblAlgn val="ctr"/>
        <c:lblOffset val="100"/>
        <c:noMultiLvlLbl val="0"/>
      </c:catAx>
      <c:valAx>
        <c:axId val="2091541328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20915394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defRPr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latin typeface="Segoe UI Semibold" panose="020B0702040204020203" pitchFamily="34" charset="0"/>
          <a:cs typeface="Segoe UI Semibold" panose="020B0702040204020203" pitchFamily="34" charset="0"/>
        </a:defRPr>
      </a:pPr>
      <a:endParaRPr lang="pt-B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7392742512757753"/>
          <c:y val="2.8915367389716437E-2"/>
          <c:w val="0.79371367985160213"/>
          <c:h val="0.88935080343117989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Planilha2!$E$45</c:f>
              <c:strCache>
                <c:ptCount val="1"/>
                <c:pt idx="0">
                  <c:v>Soma de num_pedidos</c:v>
                </c:pt>
              </c:strCache>
            </c:strRef>
          </c:tx>
          <c:spPr>
            <a:solidFill>
              <a:srgbClr val="310E31"/>
            </a:solidFill>
            <a:ln>
              <a:noFill/>
            </a:ln>
            <a:effectLst/>
          </c:spPr>
          <c:invertIfNegative val="0"/>
          <c:cat>
            <c:strRef>
              <c:f>Planilha2!$D$46:$D$55</c:f>
              <c:strCache>
                <c:ptCount val="10"/>
                <c:pt idx="0">
                  <c:v>toys</c:v>
                </c:pt>
                <c:pt idx="1">
                  <c:v>auto</c:v>
                </c:pt>
                <c:pt idx="2">
                  <c:v>telephony</c:v>
                </c:pt>
                <c:pt idx="3">
                  <c:v>watches_gifts</c:v>
                </c:pt>
                <c:pt idx="4">
                  <c:v>housewares</c:v>
                </c:pt>
                <c:pt idx="5">
                  <c:v>furniture_decor</c:v>
                </c:pt>
                <c:pt idx="6">
                  <c:v>computers_accessories</c:v>
                </c:pt>
                <c:pt idx="7">
                  <c:v>sports_leisure</c:v>
                </c:pt>
                <c:pt idx="8">
                  <c:v>health_beauty</c:v>
                </c:pt>
                <c:pt idx="9">
                  <c:v>bed_bath_table</c:v>
                </c:pt>
              </c:strCache>
            </c:strRef>
          </c:cat>
          <c:val>
            <c:numRef>
              <c:f>Planilha2!$E$46:$E$55</c:f>
              <c:numCache>
                <c:formatCode>_-* #,##0_-;\-* #,##0_-;_-* "-"??_-;_-@_-</c:formatCode>
                <c:ptCount val="10"/>
                <c:pt idx="0">
                  <c:v>3943</c:v>
                </c:pt>
                <c:pt idx="1">
                  <c:v>3970</c:v>
                </c:pt>
                <c:pt idx="2">
                  <c:v>4277</c:v>
                </c:pt>
                <c:pt idx="3">
                  <c:v>5735</c:v>
                </c:pt>
                <c:pt idx="4">
                  <c:v>6036</c:v>
                </c:pt>
                <c:pt idx="5">
                  <c:v>6555</c:v>
                </c:pt>
                <c:pt idx="6">
                  <c:v>6806</c:v>
                </c:pt>
                <c:pt idx="7">
                  <c:v>7863</c:v>
                </c:pt>
                <c:pt idx="8">
                  <c:v>8927</c:v>
                </c:pt>
                <c:pt idx="9">
                  <c:v>9670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E4A-4783-8190-00B2DCC6BB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1888936384"/>
        <c:axId val="1888940704"/>
      </c:barChart>
      <c:catAx>
        <c:axId val="188893638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pPr>
            <a:endParaRPr lang="pt-BR"/>
          </a:p>
        </c:txPr>
        <c:crossAx val="1888940704"/>
        <c:crosses val="autoZero"/>
        <c:auto val="1"/>
        <c:lblAlgn val="ctr"/>
        <c:lblOffset val="100"/>
        <c:noMultiLvlLbl val="0"/>
      </c:catAx>
      <c:valAx>
        <c:axId val="188894070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bg1">
                  <a:lumMod val="50000"/>
                </a:schemeClr>
              </a:solidFill>
              <a:prstDash val="dash"/>
              <a:round/>
            </a:ln>
            <a:effectLst/>
          </c:spPr>
        </c:majorGridlines>
        <c:numFmt formatCode="_-* #,##0_-;\-* #,##0_-;_-* &quot;-&quot;??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pPr>
            <a:endParaRPr lang="pt-BR"/>
          </a:p>
        </c:txPr>
        <c:crossAx val="18889363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latin typeface="Segoe UI Semibold" panose="020B0702040204020203" pitchFamily="34" charset="0"/>
          <a:cs typeface="Segoe UI Semibold" panose="020B0702040204020203" pitchFamily="34" charset="0"/>
        </a:defRPr>
      </a:pPr>
      <a:endParaRPr lang="pt-B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Planilha2!$B$63</c:f>
              <c:strCache>
                <c:ptCount val="1"/>
                <c:pt idx="0">
                  <c:v>Apenas 1 Compra (%)</c:v>
                </c:pt>
              </c:strCache>
            </c:strRef>
          </c:tx>
          <c:spPr>
            <a:ln w="28575" cap="rnd">
              <a:solidFill>
                <a:srgbClr val="DF186A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chemeClr val="bg1"/>
              </a:solidFill>
              <a:ln w="31750">
                <a:solidFill>
                  <a:srgbClr val="DF186A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Segoe UI Semibold" panose="020B0702040204020203" pitchFamily="34" charset="0"/>
                    <a:ea typeface="+mn-ea"/>
                    <a:cs typeface="Segoe UI Semibold" panose="020B0702040204020203" pitchFamily="34" charset="0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Planilha2!$A$64:$A$83</c:f>
              <c:strCache>
                <c:ptCount val="20"/>
                <c:pt idx="0">
                  <c:v>2017-01</c:v>
                </c:pt>
                <c:pt idx="1">
                  <c:v>2017-02</c:v>
                </c:pt>
                <c:pt idx="2">
                  <c:v>2017-03</c:v>
                </c:pt>
                <c:pt idx="3">
                  <c:v>2017-04</c:v>
                </c:pt>
                <c:pt idx="4">
                  <c:v>2017-05</c:v>
                </c:pt>
                <c:pt idx="5">
                  <c:v>2017-06</c:v>
                </c:pt>
                <c:pt idx="6">
                  <c:v>2017-07</c:v>
                </c:pt>
                <c:pt idx="7">
                  <c:v>2017-08</c:v>
                </c:pt>
                <c:pt idx="8">
                  <c:v>2017-09</c:v>
                </c:pt>
                <c:pt idx="9">
                  <c:v>2017-10</c:v>
                </c:pt>
                <c:pt idx="10">
                  <c:v>2017-11</c:v>
                </c:pt>
                <c:pt idx="11">
                  <c:v>2017-12</c:v>
                </c:pt>
                <c:pt idx="12">
                  <c:v>2018-01</c:v>
                </c:pt>
                <c:pt idx="13">
                  <c:v>2018-02</c:v>
                </c:pt>
                <c:pt idx="14">
                  <c:v>2018-03</c:v>
                </c:pt>
                <c:pt idx="15">
                  <c:v>2018-04</c:v>
                </c:pt>
                <c:pt idx="16">
                  <c:v>2018-05</c:v>
                </c:pt>
                <c:pt idx="17">
                  <c:v>2018-06</c:v>
                </c:pt>
                <c:pt idx="18">
                  <c:v>2018-07</c:v>
                </c:pt>
                <c:pt idx="19">
                  <c:v>2018-08</c:v>
                </c:pt>
              </c:strCache>
            </c:strRef>
          </c:cat>
          <c:val>
            <c:numRef>
              <c:f>Planilha2!$B$64:$B$83</c:f>
              <c:numCache>
                <c:formatCode>0.0%</c:formatCode>
                <c:ptCount val="20"/>
                <c:pt idx="0">
                  <c:v>0.92400000000000004</c:v>
                </c:pt>
                <c:pt idx="1">
                  <c:v>0.95799999999999996</c:v>
                </c:pt>
                <c:pt idx="2">
                  <c:v>0.95099999999999996</c:v>
                </c:pt>
                <c:pt idx="3">
                  <c:v>0.95400000000000007</c:v>
                </c:pt>
                <c:pt idx="4">
                  <c:v>0.94499999999999995</c:v>
                </c:pt>
                <c:pt idx="5">
                  <c:v>0.94499999999999995</c:v>
                </c:pt>
                <c:pt idx="6">
                  <c:v>0.95200000000000007</c:v>
                </c:pt>
                <c:pt idx="7">
                  <c:v>0.95299999999999996</c:v>
                </c:pt>
                <c:pt idx="8">
                  <c:v>0.95400000000000007</c:v>
                </c:pt>
                <c:pt idx="9">
                  <c:v>0.96200000000000008</c:v>
                </c:pt>
                <c:pt idx="10">
                  <c:v>0.96799999999999997</c:v>
                </c:pt>
                <c:pt idx="11">
                  <c:v>0.97199999999999998</c:v>
                </c:pt>
                <c:pt idx="12">
                  <c:v>0.96900000000000008</c:v>
                </c:pt>
                <c:pt idx="13">
                  <c:v>0.96200000000000008</c:v>
                </c:pt>
                <c:pt idx="14">
                  <c:v>0.97499999999999998</c:v>
                </c:pt>
                <c:pt idx="15">
                  <c:v>0.98</c:v>
                </c:pt>
                <c:pt idx="16">
                  <c:v>0.98299999999999998</c:v>
                </c:pt>
                <c:pt idx="17">
                  <c:v>0.98799999999999999</c:v>
                </c:pt>
                <c:pt idx="18">
                  <c:v>0.98299999999999998</c:v>
                </c:pt>
                <c:pt idx="19">
                  <c:v>0.99199999999999999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F17-46A3-9E81-C13537EE058D}"/>
            </c:ext>
          </c:extLst>
        </c:ser>
        <c:ser>
          <c:idx val="1"/>
          <c:order val="1"/>
          <c:tx>
            <c:strRef>
              <c:f>Planilha2!$C$63</c:f>
              <c:strCache>
                <c:ptCount val="1"/>
                <c:pt idx="0">
                  <c:v>2 ou mais Compras (Retenção %)</c:v>
                </c:pt>
              </c:strCache>
            </c:strRef>
          </c:tx>
          <c:spPr>
            <a:ln w="28575" cap="rnd">
              <a:solidFill>
                <a:srgbClr val="0C2944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chemeClr val="bg1"/>
              </a:solidFill>
              <a:ln w="31750">
                <a:solidFill>
                  <a:srgbClr val="0C2944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Segoe UI Semibold" panose="020B0702040204020203" pitchFamily="34" charset="0"/>
                    <a:ea typeface="+mn-ea"/>
                    <a:cs typeface="Segoe UI Semibold" panose="020B0702040204020203" pitchFamily="34" charset="0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Planilha2!$A$64:$A$83</c:f>
              <c:strCache>
                <c:ptCount val="20"/>
                <c:pt idx="0">
                  <c:v>2017-01</c:v>
                </c:pt>
                <c:pt idx="1">
                  <c:v>2017-02</c:v>
                </c:pt>
                <c:pt idx="2">
                  <c:v>2017-03</c:v>
                </c:pt>
                <c:pt idx="3">
                  <c:v>2017-04</c:v>
                </c:pt>
                <c:pt idx="4">
                  <c:v>2017-05</c:v>
                </c:pt>
                <c:pt idx="5">
                  <c:v>2017-06</c:v>
                </c:pt>
                <c:pt idx="6">
                  <c:v>2017-07</c:v>
                </c:pt>
                <c:pt idx="7">
                  <c:v>2017-08</c:v>
                </c:pt>
                <c:pt idx="8">
                  <c:v>2017-09</c:v>
                </c:pt>
                <c:pt idx="9">
                  <c:v>2017-10</c:v>
                </c:pt>
                <c:pt idx="10">
                  <c:v>2017-11</c:v>
                </c:pt>
                <c:pt idx="11">
                  <c:v>2017-12</c:v>
                </c:pt>
                <c:pt idx="12">
                  <c:v>2018-01</c:v>
                </c:pt>
                <c:pt idx="13">
                  <c:v>2018-02</c:v>
                </c:pt>
                <c:pt idx="14">
                  <c:v>2018-03</c:v>
                </c:pt>
                <c:pt idx="15">
                  <c:v>2018-04</c:v>
                </c:pt>
                <c:pt idx="16">
                  <c:v>2018-05</c:v>
                </c:pt>
                <c:pt idx="17">
                  <c:v>2018-06</c:v>
                </c:pt>
                <c:pt idx="18">
                  <c:v>2018-07</c:v>
                </c:pt>
                <c:pt idx="19">
                  <c:v>2018-08</c:v>
                </c:pt>
              </c:strCache>
            </c:strRef>
          </c:cat>
          <c:val>
            <c:numRef>
              <c:f>Planilha2!$C$64:$C$83</c:f>
              <c:numCache>
                <c:formatCode>0.0%</c:formatCode>
                <c:ptCount val="20"/>
                <c:pt idx="0">
                  <c:v>7.5999999999999998E-2</c:v>
                </c:pt>
                <c:pt idx="1">
                  <c:v>4.2000000000000003E-2</c:v>
                </c:pt>
                <c:pt idx="2">
                  <c:v>4.9000000000000002E-2</c:v>
                </c:pt>
                <c:pt idx="3">
                  <c:v>4.5999999999999999E-2</c:v>
                </c:pt>
                <c:pt idx="4">
                  <c:v>5.5E-2</c:v>
                </c:pt>
                <c:pt idx="5">
                  <c:v>5.5E-2</c:v>
                </c:pt>
                <c:pt idx="6">
                  <c:v>4.8000000000000001E-2</c:v>
                </c:pt>
                <c:pt idx="7">
                  <c:v>4.7E-2</c:v>
                </c:pt>
                <c:pt idx="8">
                  <c:v>4.5999999999999999E-2</c:v>
                </c:pt>
                <c:pt idx="9">
                  <c:v>3.7999999999999999E-2</c:v>
                </c:pt>
                <c:pt idx="10">
                  <c:v>3.2000000000000001E-2</c:v>
                </c:pt>
                <c:pt idx="11">
                  <c:v>2.7999999999999997E-2</c:v>
                </c:pt>
                <c:pt idx="12">
                  <c:v>3.1E-2</c:v>
                </c:pt>
                <c:pt idx="13">
                  <c:v>3.7999999999999999E-2</c:v>
                </c:pt>
                <c:pt idx="14">
                  <c:v>2.5000000000000001E-2</c:v>
                </c:pt>
                <c:pt idx="15">
                  <c:v>0.02</c:v>
                </c:pt>
                <c:pt idx="16">
                  <c:v>1.7000000000000001E-2</c:v>
                </c:pt>
                <c:pt idx="17">
                  <c:v>1.2E-2</c:v>
                </c:pt>
                <c:pt idx="18">
                  <c:v>1.7000000000000001E-2</c:v>
                </c:pt>
                <c:pt idx="19">
                  <c:v>8.0000000000000002E-3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F17-46A3-9E81-C13537EE058D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101140576"/>
        <c:axId val="2101147296"/>
      </c:lineChart>
      <c:catAx>
        <c:axId val="2101140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pPr>
            <a:endParaRPr lang="pt-BR"/>
          </a:p>
        </c:txPr>
        <c:crossAx val="2101147296"/>
        <c:crosses val="autoZero"/>
        <c:auto val="1"/>
        <c:lblAlgn val="ctr"/>
        <c:lblOffset val="100"/>
        <c:noMultiLvlLbl val="0"/>
      </c:catAx>
      <c:valAx>
        <c:axId val="2101147296"/>
        <c:scaling>
          <c:orientation val="minMax"/>
        </c:scaling>
        <c:delete val="1"/>
        <c:axPos val="l"/>
        <c:numFmt formatCode="0.0%" sourceLinked="1"/>
        <c:majorTickMark val="none"/>
        <c:minorTickMark val="none"/>
        <c:tickLblPos val="nextTo"/>
        <c:crossAx val="2101140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>
          <a:latin typeface="Segoe UI Semibold" panose="020B0702040204020203" pitchFamily="34" charset="0"/>
          <a:cs typeface="Segoe UI Semibold" panose="020B0702040204020203" pitchFamily="34" charset="0"/>
        </a:defRPr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4399BF-22B9-9FB8-153C-E402D0168C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A9E341F-78DF-C5DB-4364-F519A4300B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7651FD2-BE8B-3FF8-E19F-8F0B20B2B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98101-4975-437F-AD2C-AD5236AD01A9}" type="datetimeFigureOut">
              <a:rPr lang="pt-BR" smtClean="0"/>
              <a:t>20/06/2026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0B6EC5-E393-8E36-BA12-855044569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9F921FE-746A-AF39-9FAF-E8D981DF0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1B249-E608-471D-AAD5-DD488DA4E4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3047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BBDDB5-EA49-963A-5DE5-ACAD4D6D0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F62676-CBF7-E0C0-8670-DBE44D6A86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2C14BA6-9C82-BDE2-B8F2-2093B1BDD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98101-4975-437F-AD2C-AD5236AD01A9}" type="datetimeFigureOut">
              <a:rPr lang="pt-BR" smtClean="0"/>
              <a:t>20/06/2026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D359210-0379-3A01-C94E-807E32DC5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1F9263B-3971-063D-927B-595158BF5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1B249-E608-471D-AAD5-DD488DA4E4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0146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D6B3B6-FF75-9DD7-EEFA-9B03F22EB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51CC6FA-121C-C7DF-2F68-9D95044397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B61ED27-C7C1-6BC3-ABFE-D334493F6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98101-4975-437F-AD2C-AD5236AD01A9}" type="datetimeFigureOut">
              <a:rPr lang="pt-BR" smtClean="0"/>
              <a:t>20/06/2026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C33D4E-DE11-8F93-498F-C20C55496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9250E68-F344-0CBD-C243-BB43FD16A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1B249-E608-471D-AAD5-DD488DA4E4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3885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BDB617-1167-36BC-A620-5B9B015A4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774064D-5C42-FF2D-7C3F-67DF910724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74592B8-92D9-8835-8A12-F2A88D9923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9652958-0BA9-60F4-26D6-D45B607CC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98101-4975-437F-AD2C-AD5236AD01A9}" type="datetimeFigureOut">
              <a:rPr lang="pt-BR" smtClean="0"/>
              <a:t>20/06/2026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FA66D6C-7AE1-E479-34ED-B81A9E5A0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C0F4C4A-CDCE-0AA6-CF39-6345408D3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1B249-E608-471D-AAD5-DD488DA4E4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0800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FDD890-BEE1-DF61-E716-1C608ABB8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48AA44C-6B16-130F-C657-37F5B6A798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7C76B18-69C3-9593-9887-1B9C9FC876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03C0D9D-C4CB-EC48-391D-4B198F9900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352392A-A7E9-5F8C-9719-2EED87B7ED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521EA77-25F7-5DA5-4A43-3C952303A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98101-4975-437F-AD2C-AD5236AD01A9}" type="datetimeFigureOut">
              <a:rPr lang="pt-BR" smtClean="0"/>
              <a:t>20/06/2026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6B72FF8-FB2E-1E2F-BA7C-541C0A81B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A8C96F2-C842-E554-5FFC-9F530EBB9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1B249-E608-471D-AAD5-DD488DA4E4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736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0F042A-45A0-E4B9-45F0-87543D7FD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FE5A49A-6009-452F-DBF3-020BB2033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98101-4975-437F-AD2C-AD5236AD01A9}" type="datetimeFigureOut">
              <a:rPr lang="pt-BR" smtClean="0"/>
              <a:t>20/06/2026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604068B-598E-2348-23FE-2C641CC95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BF49C40-0660-05DE-8FB5-91EF33A20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1B249-E608-471D-AAD5-DD488DA4E4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8260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67436DD-BAD3-2BBF-7036-67FA21D76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98101-4975-437F-AD2C-AD5236AD01A9}" type="datetimeFigureOut">
              <a:rPr lang="pt-BR" smtClean="0"/>
              <a:t>20/06/2026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C5CB5C7-45AC-88A9-81C6-599625517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424220F-1EDD-F6CD-3EB4-ED44841DD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1B249-E608-471D-AAD5-DD488DA4E4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6863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6808A0-A6EC-EE87-9158-647D806B6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17E2DD-BEF7-B363-9866-DBB64F3BA8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4EB4DC7-64B4-A5F9-E788-5944E987C1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F56D809-1761-AA89-3416-B3BD9B12A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98101-4975-437F-AD2C-AD5236AD01A9}" type="datetimeFigureOut">
              <a:rPr lang="pt-BR" smtClean="0"/>
              <a:t>20/06/2026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48B6192-97B8-17DF-E842-8E6718F77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33D66EA-8E74-83B2-6AB0-7BAE20356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1B249-E608-471D-AAD5-DD488DA4E4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8177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C8001E-2941-158A-2DEE-502759E39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ADDF290-CCA3-6184-9026-2B13E76C0B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5767829-19C6-D5A2-4FAA-955BE22668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DC7F443-AA5F-D7A0-B86F-FA13042EB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98101-4975-437F-AD2C-AD5236AD01A9}" type="datetimeFigureOut">
              <a:rPr lang="pt-BR" smtClean="0"/>
              <a:t>20/06/2026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9F44EA4-0DD3-E21E-52CF-0F1845A6D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9321ECB-A23D-1C12-773B-D66D4FA78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1B249-E608-471D-AAD5-DD488DA4E4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4471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61C48B-4EA1-322D-97FB-486E7857C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2B1D999-A76B-89FD-FE9C-DF469B6A7A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5578E2-1DC3-A761-0BF4-93476A31D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98101-4975-437F-AD2C-AD5236AD01A9}" type="datetimeFigureOut">
              <a:rPr lang="pt-BR" smtClean="0"/>
              <a:t>20/06/2026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8E1DFFE-6CC1-5655-081F-C3CA91617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3456CEF-37CD-584B-446A-BE62DC890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1B249-E608-471D-AAD5-DD488DA4E4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1844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07E0B53-CCBC-C50D-D1B0-4B1DD46CAE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4A3CA50-C8C9-93FB-AFE3-AD3C506E41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E12A8E-E460-F660-5234-DE0B2747B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98101-4975-437F-AD2C-AD5236AD01A9}" type="datetimeFigureOut">
              <a:rPr lang="pt-BR" smtClean="0"/>
              <a:t>20/06/2026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CC45F33-7B11-1BAD-16B8-AF1CA0D38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92CFCC0-2F76-9381-894B-1E4F15056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1B249-E608-471D-AAD5-DD488DA4E4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1289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354CBE3-7F34-3A3A-AED7-6FC4153C4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AE6D4EF-1B02-FE1D-F04A-58E083C3E7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FB5940D-F7F0-ECDA-A7CA-D96A09C2B6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D98101-4975-437F-AD2C-AD5236AD01A9}" type="datetimeFigureOut">
              <a:rPr lang="pt-BR" smtClean="0"/>
              <a:t>20/06/2026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DDFAE7B-6308-B0ED-8ED9-EDE77EB12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0CAB769-47C6-7E51-9271-7C9B82B75C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41B249-E608-471D-AAD5-DD488DA4E4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5050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Uma imagem contendo Padrão do plano de fundo&#10;&#10;O conteúdo gerado por IA pode estar incorreto.">
            <a:extLst>
              <a:ext uri="{FF2B5EF4-FFF2-40B4-BE49-F238E27FC236}">
                <a16:creationId xmlns:a16="http://schemas.microsoft.com/office/drawing/2014/main" id="{5F7E7A5B-5995-D6D9-F47F-D15E905BE0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D9C17D04-A8E3-ACCF-EF7B-39D0568970BE}"/>
              </a:ext>
            </a:extLst>
          </p:cNvPr>
          <p:cNvSpPr txBox="1"/>
          <p:nvPr/>
        </p:nvSpPr>
        <p:spPr>
          <a:xfrm>
            <a:off x="2184400" y="2701985"/>
            <a:ext cx="80670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Análise de Desempenho Comercial </a:t>
            </a:r>
            <a:r>
              <a:rPr lang="pt-BR" sz="3200" dirty="0">
                <a:solidFill>
                  <a:srgbClr val="DF186A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Olist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E7BA2E2-12E7-FBE7-2456-36A7E538CB35}"/>
              </a:ext>
            </a:extLst>
          </p:cNvPr>
          <p:cNvSpPr txBox="1"/>
          <p:nvPr/>
        </p:nvSpPr>
        <p:spPr>
          <a:xfrm>
            <a:off x="1798320" y="3323828"/>
            <a:ext cx="8067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Tech </a:t>
            </a:r>
            <a:r>
              <a:rPr lang="pt-BR" b="1" dirty="0" err="1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Challenge</a:t>
            </a:r>
            <a:r>
              <a:rPr lang="pt-BR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b="1" dirty="0">
                <a:solidFill>
                  <a:schemeClr val="bg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fase 1 - Cristiane Amorim Nunes</a:t>
            </a:r>
            <a:endParaRPr lang="pt-BR" dirty="0">
              <a:solidFill>
                <a:schemeClr val="bg1">
                  <a:lumMod val="75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8029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Uma imagem contendo Padrão do plano de fundo&#10;&#10;O conteúdo gerado por IA pode estar incorreto.">
            <a:extLst>
              <a:ext uri="{FF2B5EF4-FFF2-40B4-BE49-F238E27FC236}">
                <a16:creationId xmlns:a16="http://schemas.microsoft.com/office/drawing/2014/main" id="{5F7E7A5B-5995-D6D9-F47F-D15E905BE0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7D9C1AD8-6F5F-1B81-95A7-F6DC69EAA748}"/>
              </a:ext>
            </a:extLst>
          </p:cNvPr>
          <p:cNvSpPr/>
          <p:nvPr/>
        </p:nvSpPr>
        <p:spPr>
          <a:xfrm>
            <a:off x="1971040" y="1129268"/>
            <a:ext cx="3952240" cy="2553732"/>
          </a:xfrm>
          <a:prstGeom prst="roundRect">
            <a:avLst>
              <a:gd name="adj" fmla="val 5170"/>
            </a:avLst>
          </a:prstGeom>
          <a:solidFill>
            <a:srgbClr val="310E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E7BA2E2-12E7-FBE7-2456-36A7E538CB35}"/>
              </a:ext>
            </a:extLst>
          </p:cNvPr>
          <p:cNvSpPr txBox="1"/>
          <p:nvPr/>
        </p:nvSpPr>
        <p:spPr>
          <a:xfrm>
            <a:off x="2118360" y="1190228"/>
            <a:ext cx="36576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Objetivo</a:t>
            </a:r>
            <a:endParaRPr lang="pt-BR" b="1" dirty="0">
              <a:solidFill>
                <a:schemeClr val="bg1">
                  <a:lumMod val="75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935F65AC-AE1E-AF38-A40B-3D97C15CF70C}"/>
              </a:ext>
            </a:extLst>
          </p:cNvPr>
          <p:cNvSpPr/>
          <p:nvPr/>
        </p:nvSpPr>
        <p:spPr>
          <a:xfrm>
            <a:off x="1971040" y="1620520"/>
            <a:ext cx="3952240" cy="2062480"/>
          </a:xfrm>
          <a:prstGeom prst="roundRect">
            <a:avLst>
              <a:gd name="adj" fmla="val 5170"/>
            </a:avLst>
          </a:prstGeom>
          <a:solidFill>
            <a:schemeClr val="tx1"/>
          </a:solidFill>
          <a:ln>
            <a:solidFill>
              <a:srgbClr val="310E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B6FCC1A-7940-5FA8-73CE-3119ADE7E391}"/>
              </a:ext>
            </a:extLst>
          </p:cNvPr>
          <p:cNvSpPr txBox="1"/>
          <p:nvPr/>
        </p:nvSpPr>
        <p:spPr>
          <a:xfrm>
            <a:off x="2118360" y="2066984"/>
            <a:ext cx="3657600" cy="116955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Visão integrada do desempenho comercial da Olist, avaliando receita, retenção, satisfação e distribuição geográfica, para identificar gargalos e oportunidades de expansão.</a:t>
            </a:r>
            <a:endParaRPr lang="pt-BR" sz="1400" dirty="0">
              <a:solidFill>
                <a:schemeClr val="bg1">
                  <a:lumMod val="75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F9E046F0-E214-3AE9-5883-DF7D64228FC7}"/>
              </a:ext>
            </a:extLst>
          </p:cNvPr>
          <p:cNvSpPr/>
          <p:nvPr/>
        </p:nvSpPr>
        <p:spPr>
          <a:xfrm>
            <a:off x="1971040" y="3928626"/>
            <a:ext cx="3952240" cy="2553732"/>
          </a:xfrm>
          <a:prstGeom prst="roundRect">
            <a:avLst>
              <a:gd name="adj" fmla="val 5170"/>
            </a:avLst>
          </a:prstGeom>
          <a:solidFill>
            <a:srgbClr val="0C29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06E313D-0EBB-B43F-0556-E0E1C78F595C}"/>
              </a:ext>
            </a:extLst>
          </p:cNvPr>
          <p:cNvSpPr txBox="1"/>
          <p:nvPr/>
        </p:nvSpPr>
        <p:spPr>
          <a:xfrm>
            <a:off x="2118360" y="3989586"/>
            <a:ext cx="36576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Metodologia</a:t>
            </a:r>
            <a:endParaRPr lang="pt-BR" b="1" dirty="0">
              <a:solidFill>
                <a:schemeClr val="bg1">
                  <a:lumMod val="75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ECEF5890-19FD-BE54-98B9-064D880B842C}"/>
              </a:ext>
            </a:extLst>
          </p:cNvPr>
          <p:cNvSpPr/>
          <p:nvPr/>
        </p:nvSpPr>
        <p:spPr>
          <a:xfrm>
            <a:off x="1971040" y="4419878"/>
            <a:ext cx="3952240" cy="2062480"/>
          </a:xfrm>
          <a:prstGeom prst="roundRect">
            <a:avLst>
              <a:gd name="adj" fmla="val 5170"/>
            </a:avLst>
          </a:prstGeom>
          <a:solidFill>
            <a:schemeClr val="tx1"/>
          </a:solidFill>
          <a:ln>
            <a:solidFill>
              <a:srgbClr val="0C29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5933267-111D-0B23-8223-7ACE857A21AD}"/>
              </a:ext>
            </a:extLst>
          </p:cNvPr>
          <p:cNvSpPr txBox="1"/>
          <p:nvPr/>
        </p:nvSpPr>
        <p:spPr>
          <a:xfrm>
            <a:off x="2118360" y="4823540"/>
            <a:ext cx="3657600" cy="116955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Estatística descritiva e análise exploratória; Criação de indicadores de receita, ticket médio e retenção; Visualização de dados com gráficos comparativos e rankings; Interpretação estratégica dos resultados</a:t>
            </a:r>
            <a:endParaRPr lang="pt-BR" sz="1400" dirty="0">
              <a:solidFill>
                <a:schemeClr val="bg1">
                  <a:lumMod val="75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FA834722-61F4-969B-BF1A-BEE768655622}"/>
              </a:ext>
            </a:extLst>
          </p:cNvPr>
          <p:cNvSpPr/>
          <p:nvPr/>
        </p:nvSpPr>
        <p:spPr>
          <a:xfrm>
            <a:off x="6217920" y="1129268"/>
            <a:ext cx="3952240" cy="2553732"/>
          </a:xfrm>
          <a:prstGeom prst="roundRect">
            <a:avLst>
              <a:gd name="adj" fmla="val 5170"/>
            </a:avLst>
          </a:prstGeom>
          <a:solidFill>
            <a:srgbClr val="310E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B667811-A402-233F-7B3C-8DED12E2B173}"/>
              </a:ext>
            </a:extLst>
          </p:cNvPr>
          <p:cNvSpPr txBox="1"/>
          <p:nvPr/>
        </p:nvSpPr>
        <p:spPr>
          <a:xfrm>
            <a:off x="6365240" y="1190228"/>
            <a:ext cx="36576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Ferramentas</a:t>
            </a:r>
            <a:endParaRPr lang="pt-BR" b="1" dirty="0">
              <a:solidFill>
                <a:schemeClr val="bg1">
                  <a:lumMod val="75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ACCD8F27-7237-A672-CE0C-397656DEE957}"/>
              </a:ext>
            </a:extLst>
          </p:cNvPr>
          <p:cNvSpPr/>
          <p:nvPr/>
        </p:nvSpPr>
        <p:spPr>
          <a:xfrm>
            <a:off x="6217920" y="1620520"/>
            <a:ext cx="3952240" cy="2062480"/>
          </a:xfrm>
          <a:prstGeom prst="roundRect">
            <a:avLst>
              <a:gd name="adj" fmla="val 5170"/>
            </a:avLst>
          </a:prstGeom>
          <a:solidFill>
            <a:schemeClr val="tx1"/>
          </a:solidFill>
          <a:ln>
            <a:solidFill>
              <a:srgbClr val="310E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8FEA2D7F-3B19-8CBE-2088-50993B630D52}"/>
              </a:ext>
            </a:extLst>
          </p:cNvPr>
          <p:cNvSpPr txBox="1"/>
          <p:nvPr/>
        </p:nvSpPr>
        <p:spPr>
          <a:xfrm>
            <a:off x="6365240" y="2066984"/>
            <a:ext cx="3657600" cy="116955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Python (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Jupyter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Notebook / Google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Colab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  <a:p>
            <a:pPr algn="ctr"/>
            <a:endParaRPr lang="pt-BR" sz="1400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Pandas,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NumPy</a:t>
            </a:r>
            <a:endParaRPr lang="pt-BR" sz="1400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endParaRPr lang="pt-BR" sz="1400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Matplotlib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Seaborn</a:t>
            </a:r>
            <a:endParaRPr lang="pt-BR" sz="1400" dirty="0">
              <a:solidFill>
                <a:schemeClr val="bg1">
                  <a:lumMod val="75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A24906BE-DDCE-5F32-1BD0-7066F7CC1D2D}"/>
              </a:ext>
            </a:extLst>
          </p:cNvPr>
          <p:cNvSpPr/>
          <p:nvPr/>
        </p:nvSpPr>
        <p:spPr>
          <a:xfrm>
            <a:off x="6217920" y="3928626"/>
            <a:ext cx="3952240" cy="2553732"/>
          </a:xfrm>
          <a:prstGeom prst="roundRect">
            <a:avLst>
              <a:gd name="adj" fmla="val 5170"/>
            </a:avLst>
          </a:prstGeom>
          <a:solidFill>
            <a:srgbClr val="0C29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A0428E5C-11CF-C876-591F-6C6F216FD06C}"/>
              </a:ext>
            </a:extLst>
          </p:cNvPr>
          <p:cNvSpPr txBox="1"/>
          <p:nvPr/>
        </p:nvSpPr>
        <p:spPr>
          <a:xfrm>
            <a:off x="6365240" y="3989586"/>
            <a:ext cx="36576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Etapas</a:t>
            </a:r>
            <a:endParaRPr lang="pt-BR" b="1" dirty="0">
              <a:solidFill>
                <a:schemeClr val="bg1">
                  <a:lumMod val="75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B04252B6-86BD-DFD9-BFEA-B9DB7DAB31F0}"/>
              </a:ext>
            </a:extLst>
          </p:cNvPr>
          <p:cNvSpPr/>
          <p:nvPr/>
        </p:nvSpPr>
        <p:spPr>
          <a:xfrm>
            <a:off x="6217920" y="4419878"/>
            <a:ext cx="3952240" cy="2062480"/>
          </a:xfrm>
          <a:prstGeom prst="roundRect">
            <a:avLst>
              <a:gd name="adj" fmla="val 5170"/>
            </a:avLst>
          </a:prstGeom>
          <a:solidFill>
            <a:schemeClr val="tx1"/>
          </a:solidFill>
          <a:ln>
            <a:solidFill>
              <a:srgbClr val="0C29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9685D0B1-2BFE-A27D-BABF-A976A24C4089}"/>
              </a:ext>
            </a:extLst>
          </p:cNvPr>
          <p:cNvSpPr txBox="1"/>
          <p:nvPr/>
        </p:nvSpPr>
        <p:spPr>
          <a:xfrm>
            <a:off x="6365240" y="4667956"/>
            <a:ext cx="3657600" cy="160043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Junção e preparação dos dados; Construção de métricas de desempenho (receita, ticket médio, satisfação); Identificação de concentração geográfica e sazonalidades; Geração de gráficos para correlação entre receita e satisfação; Elaboração de recomendações estratégicas</a:t>
            </a:r>
            <a:endParaRPr lang="pt-BR" sz="1400" dirty="0">
              <a:solidFill>
                <a:schemeClr val="bg1">
                  <a:lumMod val="75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59CB1574-3155-A9BE-4511-C6A4ADA1FADE}"/>
              </a:ext>
            </a:extLst>
          </p:cNvPr>
          <p:cNvSpPr txBox="1"/>
          <p:nvPr/>
        </p:nvSpPr>
        <p:spPr>
          <a:xfrm>
            <a:off x="203200" y="369634"/>
            <a:ext cx="63906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Trilha de Execução</a:t>
            </a:r>
            <a:endParaRPr lang="pt-BR" sz="2400" dirty="0">
              <a:solidFill>
                <a:srgbClr val="19558C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0993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 descr="Imagem em preto e branco&#10;&#10;O conteúdo gerado por IA pode estar incorreto.">
            <a:extLst>
              <a:ext uri="{FF2B5EF4-FFF2-40B4-BE49-F238E27FC236}">
                <a16:creationId xmlns:a16="http://schemas.microsoft.com/office/drawing/2014/main" id="{7569ABC2-9F86-7448-0934-C474A33887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078"/>
            <a:ext cx="12192000" cy="6841843"/>
          </a:xfr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8BE8EBB7-B100-2641-9DEE-92D17A61419D}"/>
              </a:ext>
            </a:extLst>
          </p:cNvPr>
          <p:cNvSpPr/>
          <p:nvPr/>
        </p:nvSpPr>
        <p:spPr>
          <a:xfrm>
            <a:off x="10068560" y="436880"/>
            <a:ext cx="1483360" cy="467360"/>
          </a:xfrm>
          <a:prstGeom prst="rect">
            <a:avLst/>
          </a:prstGeom>
          <a:solidFill>
            <a:srgbClr val="0502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FD3B216-81DC-4A09-1D81-2F4ECCE13A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8528" y="389954"/>
            <a:ext cx="1645312" cy="548225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57CDC615-405A-1325-8EA6-4CFA08BE93DD}"/>
              </a:ext>
            </a:extLst>
          </p:cNvPr>
          <p:cNvSpPr txBox="1"/>
          <p:nvPr/>
        </p:nvSpPr>
        <p:spPr>
          <a:xfrm>
            <a:off x="203200" y="369634"/>
            <a:ext cx="63906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Crescimento em </a:t>
            </a:r>
            <a:r>
              <a:rPr lang="pt-BR" sz="2400" b="1" dirty="0">
                <a:solidFill>
                  <a:srgbClr val="DF186A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Escala</a:t>
            </a:r>
            <a:r>
              <a:rPr lang="pt-BR" sz="24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Não em </a:t>
            </a:r>
            <a:r>
              <a:rPr lang="pt-BR" sz="2400" b="1" dirty="0">
                <a:solidFill>
                  <a:srgbClr val="19558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Valor</a:t>
            </a:r>
            <a:endParaRPr lang="pt-BR" sz="2400" dirty="0">
              <a:solidFill>
                <a:srgbClr val="19558C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graphicFrame>
        <p:nvGraphicFramePr>
          <p:cNvPr id="9" name="Gráfico 8">
            <a:extLst>
              <a:ext uri="{FF2B5EF4-FFF2-40B4-BE49-F238E27FC236}">
                <a16:creationId xmlns:a16="http://schemas.microsoft.com/office/drawing/2014/main" id="{E43023D4-A338-59B7-6E28-619F0FDF595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00760697"/>
              </p:ext>
            </p:extLst>
          </p:nvPr>
        </p:nvGraphicFramePr>
        <p:xfrm>
          <a:off x="754716" y="2189779"/>
          <a:ext cx="10682568" cy="45869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CaixaDeTexto 9">
            <a:extLst>
              <a:ext uri="{FF2B5EF4-FFF2-40B4-BE49-F238E27FC236}">
                <a16:creationId xmlns:a16="http://schemas.microsoft.com/office/drawing/2014/main" id="{45591B27-4B80-01BF-B893-7DC0691A0176}"/>
              </a:ext>
            </a:extLst>
          </p:cNvPr>
          <p:cNvSpPr txBox="1"/>
          <p:nvPr/>
        </p:nvSpPr>
        <p:spPr>
          <a:xfrm>
            <a:off x="203200" y="831299"/>
            <a:ext cx="958088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1">
                    <a:lumMod val="6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A receita total cresce de forma consistente entre 2017 e 2018, </a:t>
            </a:r>
            <a:r>
              <a:rPr lang="pt-BR" sz="1400" dirty="0">
                <a:solidFill>
                  <a:schemeClr val="bg1">
                    <a:lumMod val="6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impulsionada pelo aumento de volume de pedidos. No entanto, o ticket médio permanece estável, indicando que o avanço do negócio vem da expansão de base e não do aumento de valor por cliente. O desafio é transformar escala em rentabilidade.</a:t>
            </a:r>
          </a:p>
        </p:txBody>
      </p:sp>
    </p:spTree>
    <p:extLst>
      <p:ext uri="{BB962C8B-B14F-4D97-AF65-F5344CB8AC3E}">
        <p14:creationId xmlns:p14="http://schemas.microsoft.com/office/powerpoint/2010/main" val="351375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 descr="Imagem em preto e branco&#10;&#10;O conteúdo gerado por IA pode estar incorreto.">
            <a:extLst>
              <a:ext uri="{FF2B5EF4-FFF2-40B4-BE49-F238E27FC236}">
                <a16:creationId xmlns:a16="http://schemas.microsoft.com/office/drawing/2014/main" id="{7569ABC2-9F86-7448-0934-C474A33887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078"/>
            <a:ext cx="12192000" cy="6841843"/>
          </a:xfr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8BE8EBB7-B100-2641-9DEE-92D17A61419D}"/>
              </a:ext>
            </a:extLst>
          </p:cNvPr>
          <p:cNvSpPr/>
          <p:nvPr/>
        </p:nvSpPr>
        <p:spPr>
          <a:xfrm>
            <a:off x="10068560" y="436880"/>
            <a:ext cx="1483360" cy="467360"/>
          </a:xfrm>
          <a:prstGeom prst="rect">
            <a:avLst/>
          </a:prstGeom>
          <a:solidFill>
            <a:srgbClr val="0502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FD3B216-81DC-4A09-1D81-2F4ECCE13A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8528" y="389954"/>
            <a:ext cx="1645312" cy="548225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57CDC615-405A-1325-8EA6-4CFA08BE93DD}"/>
              </a:ext>
            </a:extLst>
          </p:cNvPr>
          <p:cNvSpPr txBox="1"/>
          <p:nvPr/>
        </p:nvSpPr>
        <p:spPr>
          <a:xfrm>
            <a:off x="203200" y="369634"/>
            <a:ext cx="7833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Dependência de </a:t>
            </a:r>
            <a:r>
              <a:rPr lang="pt-BR" sz="2400" b="1" dirty="0">
                <a:solidFill>
                  <a:srgbClr val="DF186A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São Paulo </a:t>
            </a:r>
            <a:r>
              <a:rPr lang="pt-BR" sz="24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 Potencial Regional</a:t>
            </a:r>
            <a:endParaRPr lang="pt-BR" sz="2400" dirty="0">
              <a:solidFill>
                <a:srgbClr val="19558C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5591B27-4B80-01BF-B893-7DC0691A0176}"/>
              </a:ext>
            </a:extLst>
          </p:cNvPr>
          <p:cNvSpPr txBox="1"/>
          <p:nvPr/>
        </p:nvSpPr>
        <p:spPr>
          <a:xfrm>
            <a:off x="203200" y="831299"/>
            <a:ext cx="95808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1">
                    <a:lumMod val="6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São Paulo concentra entre 37% e 50% da receita total, revelando forte dependência.</a:t>
            </a:r>
          </a:p>
          <a:p>
            <a:r>
              <a:rPr lang="pt-BR" sz="1400" dirty="0">
                <a:solidFill>
                  <a:schemeClr val="bg1">
                    <a:lumMod val="6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Estados como Minas Gerais, Paraná e Rio de Janeiro apresentam boas notas de satisfação (média de 4,0) e participação relevante, mas ainda pouco explorada. A oportunidade está em descentralizar a operação e expandir para regiões com alto potencial de crescimento e boa percepção de serviço.</a:t>
            </a:r>
          </a:p>
        </p:txBody>
      </p:sp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B75CD36E-E4AC-165F-575D-A4DC934946D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91088969"/>
              </p:ext>
            </p:extLst>
          </p:nvPr>
        </p:nvGraphicFramePr>
        <p:xfrm>
          <a:off x="685800" y="1569963"/>
          <a:ext cx="10591800" cy="48511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231052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 descr="Imagem em preto e branco&#10;&#10;O conteúdo gerado por IA pode estar incorreto.">
            <a:extLst>
              <a:ext uri="{FF2B5EF4-FFF2-40B4-BE49-F238E27FC236}">
                <a16:creationId xmlns:a16="http://schemas.microsoft.com/office/drawing/2014/main" id="{7569ABC2-9F86-7448-0934-C474A33887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078"/>
            <a:ext cx="12192000" cy="6841843"/>
          </a:xfr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8BE8EBB7-B100-2641-9DEE-92D17A61419D}"/>
              </a:ext>
            </a:extLst>
          </p:cNvPr>
          <p:cNvSpPr/>
          <p:nvPr/>
        </p:nvSpPr>
        <p:spPr>
          <a:xfrm>
            <a:off x="10068560" y="436880"/>
            <a:ext cx="1483360" cy="467360"/>
          </a:xfrm>
          <a:prstGeom prst="rect">
            <a:avLst/>
          </a:prstGeom>
          <a:solidFill>
            <a:srgbClr val="0502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FD3B216-81DC-4A09-1D81-2F4ECCE13A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8528" y="389954"/>
            <a:ext cx="1645312" cy="548225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57CDC615-405A-1325-8EA6-4CFA08BE93DD}"/>
              </a:ext>
            </a:extLst>
          </p:cNvPr>
          <p:cNvSpPr txBox="1"/>
          <p:nvPr/>
        </p:nvSpPr>
        <p:spPr>
          <a:xfrm>
            <a:off x="203200" y="369634"/>
            <a:ext cx="7833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Volume Sustentado por </a:t>
            </a:r>
            <a:r>
              <a:rPr lang="pt-BR" sz="2400" b="1" dirty="0">
                <a:solidFill>
                  <a:srgbClr val="DF186A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Categorias-Chave</a:t>
            </a:r>
            <a:endParaRPr lang="pt-BR" sz="2400" dirty="0">
              <a:solidFill>
                <a:srgbClr val="DF186A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5591B27-4B80-01BF-B893-7DC0691A0176}"/>
              </a:ext>
            </a:extLst>
          </p:cNvPr>
          <p:cNvSpPr txBox="1"/>
          <p:nvPr/>
        </p:nvSpPr>
        <p:spPr>
          <a:xfrm>
            <a:off x="203200" y="831299"/>
            <a:ext cx="958088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1">
                    <a:lumMod val="6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As categorias </a:t>
            </a:r>
            <a:r>
              <a:rPr lang="pt-BR" sz="1400" b="1" dirty="0" err="1">
                <a:solidFill>
                  <a:schemeClr val="bg1">
                    <a:lumMod val="6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bed_bath_table</a:t>
            </a:r>
            <a:r>
              <a:rPr lang="pt-BR" sz="1400" b="1" dirty="0">
                <a:solidFill>
                  <a:schemeClr val="bg1">
                    <a:lumMod val="6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e </a:t>
            </a:r>
            <a:r>
              <a:rPr lang="pt-BR" sz="1400" b="1" dirty="0" err="1">
                <a:solidFill>
                  <a:schemeClr val="bg1">
                    <a:lumMod val="6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health_beauty</a:t>
            </a:r>
            <a:r>
              <a:rPr lang="pt-BR" sz="1400" b="1" dirty="0">
                <a:solidFill>
                  <a:schemeClr val="bg1">
                    <a:lumMod val="6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lideram em número de pedidos, sustentando o crescimento em volume. Apesar da alta demanda, essas categorias não garantem maior margem, reforçando a necessidade de estratégias de </a:t>
            </a:r>
            <a:r>
              <a:rPr lang="pt-BR" sz="1400" b="1" dirty="0" err="1">
                <a:solidFill>
                  <a:schemeClr val="bg1">
                    <a:lumMod val="6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upsell</a:t>
            </a:r>
            <a:r>
              <a:rPr lang="pt-BR" sz="1400" b="1" dirty="0">
                <a:solidFill>
                  <a:schemeClr val="bg1">
                    <a:lumMod val="6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e combos para elevar o ticket médio e rentabilidade</a:t>
            </a:r>
            <a:endParaRPr lang="pt-BR" sz="1400" dirty="0">
              <a:solidFill>
                <a:schemeClr val="bg1">
                  <a:lumMod val="65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graphicFrame>
        <p:nvGraphicFramePr>
          <p:cNvPr id="3" name="Gráfico 2">
            <a:extLst>
              <a:ext uri="{FF2B5EF4-FFF2-40B4-BE49-F238E27FC236}">
                <a16:creationId xmlns:a16="http://schemas.microsoft.com/office/drawing/2014/main" id="{33D5D519-5C6E-5D95-829F-61FF62A816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33309987"/>
              </p:ext>
            </p:extLst>
          </p:nvPr>
        </p:nvGraphicFramePr>
        <p:xfrm>
          <a:off x="701040" y="1794271"/>
          <a:ext cx="10393680" cy="48313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116046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 descr="Imagem em preto e branco&#10;&#10;O conteúdo gerado por IA pode estar incorreto.">
            <a:extLst>
              <a:ext uri="{FF2B5EF4-FFF2-40B4-BE49-F238E27FC236}">
                <a16:creationId xmlns:a16="http://schemas.microsoft.com/office/drawing/2014/main" id="{7569ABC2-9F86-7448-0934-C474A33887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078"/>
            <a:ext cx="12192000" cy="6841843"/>
          </a:xfr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8BE8EBB7-B100-2641-9DEE-92D17A61419D}"/>
              </a:ext>
            </a:extLst>
          </p:cNvPr>
          <p:cNvSpPr/>
          <p:nvPr/>
        </p:nvSpPr>
        <p:spPr>
          <a:xfrm>
            <a:off x="10068560" y="436880"/>
            <a:ext cx="1483360" cy="467360"/>
          </a:xfrm>
          <a:prstGeom prst="rect">
            <a:avLst/>
          </a:prstGeom>
          <a:solidFill>
            <a:srgbClr val="0502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FD3B216-81DC-4A09-1D81-2F4ECCE13A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8528" y="389954"/>
            <a:ext cx="1645312" cy="548225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57CDC615-405A-1325-8EA6-4CFA08BE93DD}"/>
              </a:ext>
            </a:extLst>
          </p:cNvPr>
          <p:cNvSpPr txBox="1"/>
          <p:nvPr/>
        </p:nvSpPr>
        <p:spPr>
          <a:xfrm>
            <a:off x="203200" y="369634"/>
            <a:ext cx="7833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Crescimento Dependente de Aquisição</a:t>
            </a:r>
            <a:endParaRPr lang="pt-BR" sz="2400" dirty="0">
              <a:solidFill>
                <a:srgbClr val="DF186A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5591B27-4B80-01BF-B893-7DC0691A0176}"/>
              </a:ext>
            </a:extLst>
          </p:cNvPr>
          <p:cNvSpPr txBox="1"/>
          <p:nvPr/>
        </p:nvSpPr>
        <p:spPr>
          <a:xfrm>
            <a:off x="203200" y="831299"/>
            <a:ext cx="958088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1">
                    <a:lumMod val="6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A retenção é o principal ponto crítico: 97% dos clientes compram apenas uma </a:t>
            </a:r>
            <a:r>
              <a:rPr lang="pt-BR" sz="1400" b="1" dirty="0" err="1">
                <a:solidFill>
                  <a:schemeClr val="bg1">
                    <a:lumMod val="6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vez.O</a:t>
            </a:r>
            <a:r>
              <a:rPr lang="pt-BR" sz="1400" b="1" dirty="0">
                <a:solidFill>
                  <a:schemeClr val="bg1">
                    <a:lumMod val="6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crescimento atual depende quase exclusivamente da aquisição de novos consumidores. A estratégia deve focar em fidelização e reativação, transformando satisfação em recompra e relacionamento duradouro.</a:t>
            </a:r>
            <a:endParaRPr lang="pt-BR" sz="1400" dirty="0">
              <a:solidFill>
                <a:schemeClr val="bg1">
                  <a:lumMod val="65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46C6CFFB-25C6-D63A-B99A-619B44FC6B6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42950518"/>
              </p:ext>
            </p:extLst>
          </p:nvPr>
        </p:nvGraphicFramePr>
        <p:xfrm>
          <a:off x="497840" y="1654520"/>
          <a:ext cx="10942320" cy="49467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888445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Uma imagem contendo Padrão do plano de fundo&#10;&#10;O conteúdo gerado por IA pode estar incorreto.">
            <a:extLst>
              <a:ext uri="{FF2B5EF4-FFF2-40B4-BE49-F238E27FC236}">
                <a16:creationId xmlns:a16="http://schemas.microsoft.com/office/drawing/2014/main" id="{5F7E7A5B-5995-D6D9-F47F-D15E905BE0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7D9C1AD8-6F5F-1B81-95A7-F6DC69EAA748}"/>
              </a:ext>
            </a:extLst>
          </p:cNvPr>
          <p:cNvSpPr/>
          <p:nvPr/>
        </p:nvSpPr>
        <p:spPr>
          <a:xfrm>
            <a:off x="365760" y="1190228"/>
            <a:ext cx="5659120" cy="5322332"/>
          </a:xfrm>
          <a:prstGeom prst="roundRect">
            <a:avLst>
              <a:gd name="adj" fmla="val 5170"/>
            </a:avLst>
          </a:prstGeom>
          <a:solidFill>
            <a:srgbClr val="310E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E7BA2E2-12E7-FBE7-2456-36A7E538CB35}"/>
              </a:ext>
            </a:extLst>
          </p:cNvPr>
          <p:cNvSpPr txBox="1"/>
          <p:nvPr/>
        </p:nvSpPr>
        <p:spPr>
          <a:xfrm>
            <a:off x="1366520" y="1242536"/>
            <a:ext cx="36576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Principais Insights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935F65AC-AE1E-AF38-A40B-3D97C15CF70C}"/>
              </a:ext>
            </a:extLst>
          </p:cNvPr>
          <p:cNvSpPr/>
          <p:nvPr/>
        </p:nvSpPr>
        <p:spPr>
          <a:xfrm>
            <a:off x="365760" y="1681480"/>
            <a:ext cx="5659120" cy="4831080"/>
          </a:xfrm>
          <a:prstGeom prst="roundRect">
            <a:avLst>
              <a:gd name="adj" fmla="val 5170"/>
            </a:avLst>
          </a:prstGeom>
          <a:solidFill>
            <a:schemeClr val="tx1"/>
          </a:solidFill>
          <a:ln>
            <a:solidFill>
              <a:srgbClr val="310E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5933267-111D-0B23-8223-7ACE857A21AD}"/>
              </a:ext>
            </a:extLst>
          </p:cNvPr>
          <p:cNvSpPr txBox="1"/>
          <p:nvPr/>
        </p:nvSpPr>
        <p:spPr>
          <a:xfrm>
            <a:off x="739140" y="2250262"/>
            <a:ext cx="4912360" cy="35394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Dependência de São Paulo: concentra entre 37% e 50% da receita, expondo risco.</a:t>
            </a:r>
          </a:p>
          <a:p>
            <a:endParaRPr lang="pt-BR" sz="1400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Baixa retenção: 97% dos clientes compram apenas uma vez, tornando o crescimento dependente de aquisição.</a:t>
            </a:r>
          </a:p>
          <a:p>
            <a:endParaRPr lang="pt-BR" sz="1400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Ticket médio estável: crescimento vem de volume, não de valor por cliente.</a:t>
            </a:r>
          </a:p>
          <a:p>
            <a:endParaRPr lang="pt-BR" sz="1400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Potencial em MG, RJ e PR: estados com participação relevante e notas médias de satisfação elevadas (acima de 4,0), mas ainda pouco explorados.</a:t>
            </a:r>
          </a:p>
          <a:p>
            <a:endParaRPr lang="pt-BR" sz="1400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Produtos líderes em volume: categorias como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bed_bath_table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health_beauty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sustentam pedidos, mas não necessariamente margem</a:t>
            </a:r>
            <a:endParaRPr lang="pt-BR" sz="1400" dirty="0">
              <a:solidFill>
                <a:schemeClr val="bg1">
                  <a:lumMod val="75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F77B71E0-DBBF-61B5-78E5-FFCF1FDC5CEB}"/>
              </a:ext>
            </a:extLst>
          </p:cNvPr>
          <p:cNvSpPr/>
          <p:nvPr/>
        </p:nvSpPr>
        <p:spPr>
          <a:xfrm>
            <a:off x="6146800" y="1190228"/>
            <a:ext cx="5659120" cy="5322332"/>
          </a:xfrm>
          <a:prstGeom prst="roundRect">
            <a:avLst>
              <a:gd name="adj" fmla="val 5170"/>
            </a:avLst>
          </a:prstGeom>
          <a:solidFill>
            <a:srgbClr val="310E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2B7C8CA3-1DDC-9AF0-A26B-EFE8922DD07F}"/>
              </a:ext>
            </a:extLst>
          </p:cNvPr>
          <p:cNvSpPr txBox="1"/>
          <p:nvPr/>
        </p:nvSpPr>
        <p:spPr>
          <a:xfrm>
            <a:off x="7147560" y="1242536"/>
            <a:ext cx="36576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Conclusões e Recomendações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1A0D4478-C002-17CD-14D0-0B3FEFFCD936}"/>
              </a:ext>
            </a:extLst>
          </p:cNvPr>
          <p:cNvSpPr/>
          <p:nvPr/>
        </p:nvSpPr>
        <p:spPr>
          <a:xfrm>
            <a:off x="6146800" y="1681480"/>
            <a:ext cx="5659120" cy="4831080"/>
          </a:xfrm>
          <a:prstGeom prst="roundRect">
            <a:avLst>
              <a:gd name="adj" fmla="val 5170"/>
            </a:avLst>
          </a:prstGeom>
          <a:solidFill>
            <a:schemeClr val="tx1"/>
          </a:solidFill>
          <a:ln>
            <a:solidFill>
              <a:srgbClr val="310E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5809D14A-03AB-E437-6B20-E804BD732F98}"/>
              </a:ext>
            </a:extLst>
          </p:cNvPr>
          <p:cNvSpPr txBox="1"/>
          <p:nvPr/>
        </p:nvSpPr>
        <p:spPr>
          <a:xfrm>
            <a:off x="6662420" y="2714307"/>
            <a:ext cx="4912360" cy="246221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 negócio cresce em escala, mas não em valor distribuído. A estratégia deve se apoiar em três pilares: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400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Descentralização logística - criação de hubs regionais em MG e PR para reduzir custos e prazos.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400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Fidelização e reativação - transformar satisfação em recompra com programas de relacionamento.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400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Gestão de margem e ticket médio - explorar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upsell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 combos para aumentar valor por pedido.</a:t>
            </a:r>
            <a:endParaRPr lang="pt-BR" sz="1400" dirty="0">
              <a:solidFill>
                <a:schemeClr val="bg1">
                  <a:lumMod val="75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383890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550</Words>
  <Application>Microsoft Office PowerPoint</Application>
  <PresentationFormat>Widescreen</PresentationFormat>
  <Paragraphs>42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4" baseType="lpstr">
      <vt:lpstr>Aptos</vt:lpstr>
      <vt:lpstr>Aptos Display</vt:lpstr>
      <vt:lpstr>Arial</vt:lpstr>
      <vt:lpstr>Segoe UI</vt:lpstr>
      <vt:lpstr>Segoe UI Light</vt:lpstr>
      <vt:lpstr>Segoe UI Semibold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Cristiane Amorim</dc:creator>
  <cp:lastModifiedBy>Cristiane Amorim</cp:lastModifiedBy>
  <cp:revision>5</cp:revision>
  <dcterms:created xsi:type="dcterms:W3CDTF">2026-06-20T23:10:59Z</dcterms:created>
  <dcterms:modified xsi:type="dcterms:W3CDTF">2026-06-21T00:28:40Z</dcterms:modified>
</cp:coreProperties>
</file>